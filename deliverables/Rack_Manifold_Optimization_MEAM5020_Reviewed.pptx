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414f1a52c2e4904" /><Relationship Type="http://schemas.openxmlformats.org/officeDocument/2006/relationships/extended-properties" Target="/docProps/app.xml" Id="R182e9ab7f96f4e99" /><Relationship Type="http://schemas.openxmlformats.org/officeDocument/2006/relationships/officeDocument" Target="/ppt/presentation.xml" Id="Rbc972a9914df42f7" /></Relationships>
</file>

<file path=ppt/presentation.xml><?xml version="1.0" encoding="utf-8"?>
<p:presentation xmlns:p="http://schemas.openxmlformats.org/presentationml/2006/main">
  <p:sldMasterIdLst>
    <p:sldMasterId xmlns:r="http://schemas.openxmlformats.org/officeDocument/2006/relationships" id="2147483648" r:id="R20d51cd663e94a7f"/>
  </p:sldMasterIdLst>
  <p:notesMasterIdLst>
    <p:notesMasterId xmlns:r="http://schemas.openxmlformats.org/officeDocument/2006/relationships" r:id="R5e2301362f7541f5"/>
  </p:notesMasterIdLst>
  <p:sldIdLst>
    <p:sldId xmlns:r="http://schemas.openxmlformats.org/officeDocument/2006/relationships" id="256" r:id="Rd2500755ee9f401b"/>
    <p:sldId xmlns:r="http://schemas.openxmlformats.org/officeDocument/2006/relationships" id="257" r:id="R53d07e0778964872"/>
    <p:sldId xmlns:r="http://schemas.openxmlformats.org/officeDocument/2006/relationships" id="258" r:id="R0c7b959b46654880"/>
    <p:sldId xmlns:r="http://schemas.openxmlformats.org/officeDocument/2006/relationships" id="259" r:id="R41b11b3d112e43ae"/>
    <p:sldId xmlns:r="http://schemas.openxmlformats.org/officeDocument/2006/relationships" id="260" r:id="R3d690d239a494c79"/>
    <p:sldId xmlns:r="http://schemas.openxmlformats.org/officeDocument/2006/relationships" id="261" r:id="Rec4db5da300f4ce0"/>
    <p:sldId xmlns:r="http://schemas.openxmlformats.org/officeDocument/2006/relationships" id="262" r:id="R53a7964682bb4cbc"/>
    <p:sldId xmlns:r="http://schemas.openxmlformats.org/officeDocument/2006/relationships" id="263" r:id="R12422f014fc94bdf"/>
    <p:sldId xmlns:r="http://schemas.openxmlformats.org/officeDocument/2006/relationships" id="264" r:id="Rf2a436d4f1f74014"/>
    <p:sldId xmlns:r="http://schemas.openxmlformats.org/officeDocument/2006/relationships" id="265" r:id="R6881b4d8c24047a6"/>
    <p:sldId xmlns:r="http://schemas.openxmlformats.org/officeDocument/2006/relationships" id="266" r:id="R3bcc5d5cec51434f"/>
    <p:sldId xmlns:r="http://schemas.openxmlformats.org/officeDocument/2006/relationships" id="267" r:id="R88e73872c94c411d"/>
    <p:sldId xmlns:r="http://schemas.openxmlformats.org/officeDocument/2006/relationships" id="268" r:id="R5e6d4928f3d0429b"/>
    <p:sldId xmlns:r="http://schemas.openxmlformats.org/officeDocument/2006/relationships" id="269" r:id="Rd6223934c2eb42f2"/>
    <p:sldId xmlns:r="http://schemas.openxmlformats.org/officeDocument/2006/relationships" id="270" r:id="R034eb87995384c7b"/>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094378165f4411" /><Relationship Type="http://schemas.openxmlformats.org/officeDocument/2006/relationships/slideMaster" Target="/ppt/slideMasters/slideMaster1.xml" Id="R20d51cd663e94a7f" /><Relationship Type="http://schemas.openxmlformats.org/officeDocument/2006/relationships/notesMaster" Target="/ppt/notesMasters/notesMaster1.xml" Id="R5e2301362f7541f5" /><Relationship Type="http://schemas.openxmlformats.org/officeDocument/2006/relationships/presProps" Target="/ppt/presProps.xml" Id="R7f54d254d6e94be4" /><Relationship Type="http://schemas.openxmlformats.org/officeDocument/2006/relationships/tableStyles" Target="/ppt/tableStyles.xml" Id="Rb5f6c4561b9a4d00" /><Relationship Type="http://schemas.openxmlformats.org/officeDocument/2006/relationships/slide" Target="/ppt/slides/slide1.xml" Id="Rd2500755ee9f401b" /><Relationship Type="http://schemas.openxmlformats.org/officeDocument/2006/relationships/slide" Target="/ppt/slides/slide2.xml" Id="R53d07e0778964872" /><Relationship Type="http://schemas.openxmlformats.org/officeDocument/2006/relationships/slide" Target="/ppt/slides/slide3.xml" Id="R0c7b959b46654880" /><Relationship Type="http://schemas.openxmlformats.org/officeDocument/2006/relationships/slide" Target="/ppt/slides/slide4.xml" Id="R41b11b3d112e43ae" /><Relationship Type="http://schemas.openxmlformats.org/officeDocument/2006/relationships/slide" Target="/ppt/slides/slide5.xml" Id="R3d690d239a494c79" /><Relationship Type="http://schemas.openxmlformats.org/officeDocument/2006/relationships/slide" Target="/ppt/slides/slide6.xml" Id="Rec4db5da300f4ce0" /><Relationship Type="http://schemas.openxmlformats.org/officeDocument/2006/relationships/slide" Target="/ppt/slides/slide7.xml" Id="R53a7964682bb4cbc" /><Relationship Type="http://schemas.openxmlformats.org/officeDocument/2006/relationships/slide" Target="/ppt/slides/slide8.xml" Id="R12422f014fc94bdf" /><Relationship Type="http://schemas.openxmlformats.org/officeDocument/2006/relationships/slide" Target="/ppt/slides/slide9.xml" Id="Rf2a436d4f1f74014" /><Relationship Type="http://schemas.openxmlformats.org/officeDocument/2006/relationships/slide" Target="/ppt/slides/slide10.xml" Id="R6881b4d8c24047a6" /><Relationship Type="http://schemas.openxmlformats.org/officeDocument/2006/relationships/slide" Target="/ppt/slides/slide11.xml" Id="R3bcc5d5cec51434f" /><Relationship Type="http://schemas.openxmlformats.org/officeDocument/2006/relationships/slide" Target="/ppt/slides/slide12.xml" Id="R88e73872c94c411d" /><Relationship Type="http://schemas.openxmlformats.org/officeDocument/2006/relationships/slide" Target="/ppt/slides/slide13.xml" Id="R5e6d4928f3d0429b" /><Relationship Type="http://schemas.openxmlformats.org/officeDocument/2006/relationships/slide" Target="/ppt/slides/slide14.xml" Id="Rd6223934c2eb42f2" /><Relationship Type="http://schemas.openxmlformats.org/officeDocument/2006/relationships/slide" Target="/ppt/slides/slide15.xml" Id="R034eb87995384c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228a792a444e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35d8906ba44cd3" /><Relationship Type="http://schemas.openxmlformats.org/officeDocument/2006/relationships/notesMaster" Target="/ppt/notesMasters/notesMaster1.xml" Id="Rd4d1468f512c43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573e55baf04103" /><Relationship Type="http://schemas.openxmlformats.org/officeDocument/2006/relationships/notesMaster" Target="/ppt/notesMasters/notesMaster1.xml" Id="Rf23db155b27345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7591f0c24c489b" /><Relationship Type="http://schemas.openxmlformats.org/officeDocument/2006/relationships/notesMaster" Target="/ppt/notesMasters/notesMaster1.xml" Id="R359660ba920d4a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7f3bb91f044d6c" /><Relationship Type="http://schemas.openxmlformats.org/officeDocument/2006/relationships/notesMaster" Target="/ppt/notesMasters/notesMaster1.xml" Id="R322de872f74f4a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54cd9bbc39477f" /><Relationship Type="http://schemas.openxmlformats.org/officeDocument/2006/relationships/notesMaster" Target="/ppt/notesMasters/notesMaster1.xml" Id="R85cfd35cb61849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b9416ffa29432c" /><Relationship Type="http://schemas.openxmlformats.org/officeDocument/2006/relationships/notesMaster" Target="/ppt/notesMasters/notesMaster1.xml" Id="R15a49e035c4b4c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4d0278a6b8468d" /><Relationship Type="http://schemas.openxmlformats.org/officeDocument/2006/relationships/notesMaster" Target="/ppt/notesMasters/notesMaster1.xml" Id="R39a4aa2c8d4d42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4641ffb502da4a14" /><Relationship Type="http://schemas.openxmlformats.org/officeDocument/2006/relationships/notesMaster" Target="/ppt/notesMasters/notesMaster1.xml" Id="Rb56c95d62bb840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638de28bddf4083" /><Relationship Type="http://schemas.openxmlformats.org/officeDocument/2006/relationships/notesMaster" Target="/ppt/notesMasters/notesMaster1.xml" Id="R4509b1f2ae1e422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703a713a4d4274" /><Relationship Type="http://schemas.openxmlformats.org/officeDocument/2006/relationships/notesMaster" Target="/ppt/notesMasters/notesMaster1.xml" Id="Rd35f6caa17ed44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4296ec56eb4958" /><Relationship Type="http://schemas.openxmlformats.org/officeDocument/2006/relationships/notesMaster" Target="/ppt/notesMasters/notesMaster1.xml" Id="R9401d1674137412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cfae34968084b32" /><Relationship Type="http://schemas.openxmlformats.org/officeDocument/2006/relationships/notesMaster" Target="/ppt/notesMasters/notesMaster1.xml" Id="R39efcf0e25d84eb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fb62d24b3354ae4" /><Relationship Type="http://schemas.openxmlformats.org/officeDocument/2006/relationships/notesMaster" Target="/ppt/notesMasters/notesMaster1.xml" Id="Rced8ab7b3560464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06800eb2cbe4371" /><Relationship Type="http://schemas.openxmlformats.org/officeDocument/2006/relationships/notesMaster" Target="/ppt/notesMasters/notesMaster1.xml" Id="Rcda0627f36f9499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c77b4ccfd564057" /><Relationship Type="http://schemas.openxmlformats.org/officeDocument/2006/relationships/notesMaster" Target="/ppt/notesMasters/notesMaster1.xml" Id="Rce1e7fa9292340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supplied by the user: MEAM 5020 Final Project (1).pdf. The supplied group names are retained. The PDF design is rebuilt as editable slide elements, with original brand assets. This is an NVL72-inspired design study, not a validated NVIDIA product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[4] NVIDIA. DGX GB Rack Scale Systems User Guide, Hardware. https://docs.nvidia.com/dgx/dgxgb200-user-guide/hardware.html</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core references are original research. Study [1] is the selected baseline method. Reported nonuniformity in [2] is its own metric, not the project RMS metric.</a:t>
            </a:r>
          </a:p>
          <a:p xmlns:a="http://schemas.openxmlformats.org/drawingml/2006/main">
            <a:r>
              <a:t/>
            </a:r>
          </a:p>
          <a:p xmlns:a="http://schemas.openxmlformats.org/drawingml/2006/main">
            <a:r>
              <a:t>[1] Sogunuru A, Menon YK, Niranjanappa AC, Reddy KH. Numerical and Experimental Investigations on Patterned Flow Distribution through Manifolds in Electronics Cooling. IJMPERD. 2020;10(2):975–986. https://scispace.com/pdf/numerical-and-experimental-investigations-of-patterned-flow-6skn0d5dfr.pdf</a:t>
            </a:r>
          </a:p>
          <a:p xmlns:a="http://schemas.openxmlformats.org/drawingml/2006/main">
            <a:r>
              <a:t>[2] Hassan JM, Mohamed TA, Mohammed WS, Alawee WH. Modeling the Uniformity of Manifold with Various Configurations. Journal of Fluids. 2014;325259. https://doi.org/10.1155/2014/325259</a:t>
            </a:r>
          </a:p>
          <a:p xmlns:a="http://schemas.openxmlformats.org/drawingml/2006/main">
            <a:r>
              <a:t>[3] Anbumeenakshi C, Thansekhar MR. Experimental investigation of header shape and inlet configuration on flow maldistribution in microchannel. Experimental Thermal and Fluid Science. 2016;75:156–161. https://doi.org/10.1016/j.expthermflusci.2016.02.004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[1], sections 3–6 and Table 1. Its narrative and Table 2 disagree on experimental deviation, so no accuracy percentage is adopted. The paper benchmark has not yet been reproduced by our code.</a:t>
            </a:r>
          </a:p>
          <a:p xmlns:a="http://schemas.openxmlformats.org/drawingml/2006/main">
            <a:r>
              <a:t/>
            </a:r>
          </a:p>
          <a:p xmlns:a="http://schemas.openxmlformats.org/drawingml/2006/main">
            <a:r>
              <a:t>[1] Sogunuru A, Menon YK, Niranjanappa AC, Reddy KH. Numerical and Experimental Investigations on Patterned Flow Distribution through Manifolds in Electronics Cooling. IJMPERD. 2020;10(2):975–986. https://scispace.com/pdf/numerical-and-experimental-investigations-of-patterned-flow-6skn0d5dfr.pdf</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Conceptual editable diagram, not a dimensioned NVIDIA drawing. Red circles identify added replaceable orifice inserts. Header sizing/taper and quick disconnect bore are additional design variables. Three representative branches stand for 27.</a:t>
            </a:r>
          </a:p>
          <a:p xmlns:a="http://schemas.openxmlformats.org/drawingml/2006/main">
            <a:r>
              <a:t/>
            </a:r>
          </a:p>
          <a:p xmlns:a="http://schemas.openxmlformats.org/drawingml/2006/main">
            <a:r>
              <a:t>[1] Sogunuru A, Menon YK, Niranjanappa AC, Reddy KH. Numerical and Experimental Investigations on Patterned Flow Distribution through Manifolds in Electronics Cooling. IJMPERD. 2020;10(2):975–986. https://scispace.com/pdf/numerical-and-experimental-investigations-of-patterned-flow-6skn0d5dfr.pdf</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Targets shown here are proposed study criteria, not measured product specifications. Compare candidates at matched coolant, total rack flow, inlet temperature, and heat load. A flow error metric must use heat-proportional targets rather than equal flow.</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inputs reproduce config/baseline.yaml and config/optimized_example.yaml. Electrical component power is treated as heat entering coolant in this scenario. Actual liquid heat capture and switch load need measurements. Legacy PG25 is retained to reproduce the earlier study, not endorsed over manufacturer properties.</a:t>
            </a:r>
          </a:p>
          <a:p xmlns:a="http://schemas.openxmlformats.org/drawingml/2006/main">
            <a:r>
              <a:t/>
            </a:r>
          </a:p>
          <a:p xmlns:a="http://schemas.openxmlformats.org/drawingml/2006/main">
            <a:r>
              <a:t>[4] NVIDIA. DGX GB Rack Scale Systems User Guide, Hardware. https://docs.nvidia.com/dgx/dgxgb200-user-guide/hardware.html</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Notation: ṁ = mass flow (kg/s), Q̇ = thermal power (W), V̇ = volume flow (m³/s), h = specific enthalpy (J/kg), cp = specific heat (J/kg/K). Common inlet state makes inlet-reference volume targets proportional to heat. Exact thermal calculation integrates the tabulated cp(T).</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Equations implemented in components.py and orifices.py. Kh has units Pa/(kg/s)^2 and differs from dimensionless minor-loss K. Cd = 0.62 is a screening assumption for a thin, sharp-edged plate. The permanent-loss relation accounts for recovery; pressure-tap differential alone is not permanent loss. Header model omits 3D tee momentum recovery.</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Pump curve uses an assumed parabolic shape fitted to a nominal point and assumed shutoff head. It is not a measured manufacturer curve. Pinches: ΔT1 = rack return minus facility return; ΔT2 = rack supply minus facility supply. Both must be positive. Equal terminal differences use the continuous LMTD limit. No ambient heat loss or pump heat is included in the quoted rack balance.</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Fresh solve on 15 September 2026. Chart values are the arithmetic mean per tray class, in inlet-reference L/min. This is a comparison at the same total 120 L/min. The class means hide within-class variation, so the next slide includes a 27-tray RMS metric.</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Recalculated from baseline.yaml and optimized_example.yaml. Balanced design retains 38 mm constant headers, compute added Kh = 0 and switch added Kh = 180528785.8784 Pa/(kg/s)^2. Pump efficiency is 0.60. Results are modeled, not hardware measurements or a proven global optimum. Legacy PG25 properties and fixed component resistance coefficients reproduce the earlier study.</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Existing code requirement: the repository already calls SciPy least_squares for hydraulic closure; it is not a solver written from scratch. CoolProp is a proposed independent property cross-check and is not the current runtime property engine. Its fluid-specific composition convention must be respected.</a:t>
            </a:r>
          </a:p>
          <a:p xmlns:a="http://schemas.openxmlformats.org/drawingml/2006/main">
            <a:r>
              <a:t/>
            </a:r>
          </a:p>
          <a:p xmlns:a="http://schemas.openxmlformats.org/drawingml/2006/main">
            <a:r>
              <a:t>[5] CoolProp. Incompressible Fluids documentation. https://coolprop.org/fluid_properties/Incompressibles.html</a:t>
            </a:r>
          </a:p>
          <a:p xmlns:a="http://schemas.openxmlformats.org/drawingml/2006/main">
            <a:r>
              <a:t>[6] SciPy. scipy.optimize.least_squares documentation. https://docs.scipy.org/doc/scipy/reference/generated/scipy.optimize.least_squares.html</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Recalculated numerical closure for both cases: mass relative error ≤ 2.18e-16; energy relative error ≤ 2.40e-15; pressure residual ≤ 4.37e-11 Pa. These show numerical closure only. Review properties, chip thermal resistance, QD curves, and actual pump/HX maps. Do not treat the 80 °C assumed target as an NVIDIA throttling threshold.</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Sogunuru A, Menon YK, Niranjanappa AC, Reddy KH. Numerical and Experimental Investigations on Patterned Flow Distribution through Manifolds in Electronics Cooling. IJMPERD. 2020;10(2):975–986. https://scispace.com/pdf/numerical-and-experimental-investigations-of-patterned-flow-6skn0d5dfr.pdf</a:t>
            </a:r>
          </a:p>
          <a:p xmlns:a="http://schemas.openxmlformats.org/drawingml/2006/main">
            <a:r>
              <a:t/>
            </a:r>
          </a:p>
          <a:p xmlns:a="http://schemas.openxmlformats.org/drawingml/2006/main">
            <a:r>
              <a:t>[2] Hassan JM, Mohamed TA, Mohammed WS, Alawee WH. Modeling the Uniformity of Manifold with Various Configurations. Journal of Fluids. 2014;325259. https://doi.org/10.1155/2014/325259</a:t>
            </a:r>
          </a:p>
          <a:p xmlns:a="http://schemas.openxmlformats.org/drawingml/2006/main">
            <a:r>
              <a:t/>
            </a:r>
          </a:p>
          <a:p xmlns:a="http://schemas.openxmlformats.org/drawingml/2006/main">
            <a:r>
              <a:t>[3] Anbumeenakshi C, Thansekhar MR. Experimental investigation of header shape and inlet configuration on flow maldistribution in microchannel. Experimental Thermal and Fluid Science. 2016;75:156–161. https://doi.org/10.1016/j.expthermflusci.2016.02.004</a:t>
            </a:r>
          </a:p>
          <a:p xmlns:a="http://schemas.openxmlformats.org/drawingml/2006/main">
            <a:r>
              <a:t/>
            </a:r>
          </a:p>
          <a:p xmlns:a="http://schemas.openxmlformats.org/drawingml/2006/main">
            <a:r>
              <a:t>[4] NVIDIA. DGX GB Rack Scale Systems User Guide, Hardware. https://docs.nvidia.com/dgx/dgxgb200-user-guide/hardware.html</a:t>
            </a:r>
          </a:p>
          <a:p xmlns:a="http://schemas.openxmlformats.org/drawingml/2006/main">
            <a:r>
              <a:t/>
            </a:r>
          </a:p>
          <a:p xmlns:a="http://schemas.openxmlformats.org/drawingml/2006/main">
            <a:r>
              <a:t>[5] CoolProp. Incompressible Fluids documentation. https://coolprop.org/fluid_properties/Incompressibles.html</a:t>
            </a:r>
          </a:p>
          <a:p xmlns:a="http://schemas.openxmlformats.org/drawingml/2006/main">
            <a:r>
              <a:t/>
            </a:r>
          </a:p>
          <a:p xmlns:a="http://schemas.openxmlformats.org/drawingml/2006/main">
            <a:r>
              <a:t>[6] SciPy. scipy.optimize.least_squares documentation. https://docs.scipy.org/doc/scipy/reference/generated/scipy.optimize.least_squares.html</a:t>
            </a:r>
          </a:p>
          <a:p xmlns:a="http://schemas.openxmlformats.org/drawingml/2006/main">
            <a:r>
              <a:t/>
            </a:r>
          </a:p>
          <a:p xmlns:a="http://schemas.openxmlformats.org/drawingml/2006/main">
            <a:r>
              <a:t>[7] Local project source and recalculated results, 15 September 2026. config/baseline.yaml, config/optimized_example.yaml, src/nvl72/{solver,hydraulics,thermal,orifices,cdu,facility,objectives}.py. Repository: https://github.com/jasonsimon999/NVL72-Manifold-Optimization</a:t>
            </a:r>
          </a:p>
          <a:p xmlns:a="http://schemas.openxmlformats.org/drawingml/2006/main">
            <a:r>
              <a:t/>
            </a:r>
          </a:p>
          <a:p xmlns:a="http://schemas.openxmlformats.org/drawingml/2006/main">
            <a:r>
              <a:t>Assignment coverage: three previous works (3), selected baseline (4), physical changes with circles/arrows (5), governing equations (8–10), existing code/database (13). No contribution hours are invented.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cad922ce584e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73067e596849ae" /><Relationship Type="http://schemas.openxmlformats.org/officeDocument/2006/relationships/slideLayout" Target="/ppt/slideLayouts/slideLayout1.xml" Id="R831f3da1f8d342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1f3da1f8d342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f2a33df08d4e5d" /><Relationship Type="http://schemas.openxmlformats.org/officeDocument/2006/relationships/image" Target="/ppt/media/image.png" Id="R09ef535cbdbe4f67" /><Relationship Type="http://schemas.openxmlformats.org/officeDocument/2006/relationships/image" Target="/ppt/media/image2.png" Id="Rde6424a6a7d44d8b" /><Relationship Type="http://schemas.openxmlformats.org/officeDocument/2006/relationships/notesSlide" Target="/ppt/notesSlides/notesSlide1.xml" Id="Rfc6dc3fc84d047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285a2675bdb4f3b" /><Relationship Type="http://schemas.openxmlformats.org/officeDocument/2006/relationships/image" Target="/ppt/media/image3.png" Id="R96fabb16d716423c" /><Relationship Type="http://schemas.openxmlformats.org/officeDocument/2006/relationships/image" Target="/ppt/media/image4.png" Id="Rb65df70092484f43" /><Relationship Type="http://schemas.openxmlformats.org/officeDocument/2006/relationships/notesSlide" Target="/ppt/notesSlides/notesSlide2.xml" Id="Rf80d86a7bc184f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7fb831d25649a1" /><Relationship Type="http://schemas.openxmlformats.org/officeDocument/2006/relationships/image" Target="/ppt/media/image5.png" Id="Rfba69f84402e496b" /><Relationship Type="http://schemas.openxmlformats.org/officeDocument/2006/relationships/image" Target="/ppt/media/image6.png" Id="R035ec4f4867944fe" /><Relationship Type="http://schemas.openxmlformats.org/officeDocument/2006/relationships/notesSlide" Target="/ppt/notesSlides/notesSlide3.xml" Id="R225c7e53903f45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65f869924143d3" /><Relationship Type="http://schemas.openxmlformats.org/officeDocument/2006/relationships/image" Target="/ppt/media/image7.png" Id="R4c6e5420a8ea44d5" /><Relationship Type="http://schemas.openxmlformats.org/officeDocument/2006/relationships/image" Target="/ppt/media/image8.png" Id="Rfffaf3cada634fb5" /><Relationship Type="http://schemas.openxmlformats.org/officeDocument/2006/relationships/notesSlide" Target="/ppt/notesSlides/notesSlide4.xml" Id="R1a321562bb0f42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d55f7c3ecd42b3" /><Relationship Type="http://schemas.openxmlformats.org/officeDocument/2006/relationships/image" Target="/ppt/media/image9.png" Id="R40695d4c4fe9463a" /><Relationship Type="http://schemas.openxmlformats.org/officeDocument/2006/relationships/image" Target="/ppt/media/image10.png" Id="Rdf6ce515b4ca4c01" /><Relationship Type="http://schemas.openxmlformats.org/officeDocument/2006/relationships/notesSlide" Target="/ppt/notesSlides/notesSlide5.xml" Id="Re55583faa02343a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38e7270000d40ef" /><Relationship Type="http://schemas.openxmlformats.org/officeDocument/2006/relationships/image" Target="/ppt/media/image11.png" Id="R9c7de23428904e61" /><Relationship Type="http://schemas.openxmlformats.org/officeDocument/2006/relationships/image" Target="/ppt/media/image12.png" Id="R50d40214a2d04de3" /><Relationship Type="http://schemas.openxmlformats.org/officeDocument/2006/relationships/notesSlide" Target="/ppt/notesSlides/notesSlide6.xml" Id="R3719206d103a4f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cafcbf4552147f5" /><Relationship Type="http://schemas.openxmlformats.org/officeDocument/2006/relationships/image" Target="/ppt/media/image13.png" Id="Re097b975b17c4800" /><Relationship Type="http://schemas.openxmlformats.org/officeDocument/2006/relationships/image" Target="/ppt/media/image14.png" Id="R45050a68e8f7482b" /><Relationship Type="http://schemas.openxmlformats.org/officeDocument/2006/relationships/notesSlide" Target="/ppt/notesSlides/notesSlide7.xml" Id="Rfb0a21d6bf184c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fb02575139c44d1" /><Relationship Type="http://schemas.openxmlformats.org/officeDocument/2006/relationships/image" Target="/ppt/media/image15.png" Id="R5c8399ffa4ae44f0" /><Relationship Type="http://schemas.openxmlformats.org/officeDocument/2006/relationships/image" Target="/ppt/media/image16.png" Id="R64cbd122d38245c6" /><Relationship Type="http://schemas.openxmlformats.org/officeDocument/2006/relationships/notesSlide" Target="/ppt/notesSlides/notesSlide8.xml" Id="Rdf52380ad3b646e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d2898fe8ff74dd4" /><Relationship Type="http://schemas.openxmlformats.org/officeDocument/2006/relationships/image" Target="/ppt/media/image17.png" Id="Rd80d8617c44c4d0b" /><Relationship Type="http://schemas.openxmlformats.org/officeDocument/2006/relationships/image" Target="/ppt/media/image18.png" Id="R8bd1c5daee73488b" /><Relationship Type="http://schemas.openxmlformats.org/officeDocument/2006/relationships/notesSlide" Target="/ppt/notesSlides/notesSlide9.xml" Id="R8d3ae40498f94a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c0c9574cda44a45" /><Relationship Type="http://schemas.openxmlformats.org/officeDocument/2006/relationships/image" Target="/ppt/media/image19.png" Id="R66228bf8311a4628" /><Relationship Type="http://schemas.openxmlformats.org/officeDocument/2006/relationships/image" Target="/ppt/media/image20.png" Id="R0c6cd6b866d34434" /><Relationship Type="http://schemas.openxmlformats.org/officeDocument/2006/relationships/notesSlide" Target="/ppt/notesSlides/notesSlide10.xml" Id="R536724088606463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dc1b1c0efc7468d" /><Relationship Type="http://schemas.openxmlformats.org/officeDocument/2006/relationships/image" Target="/ppt/media/image21.png" Id="Ra733d143d87044d1" /><Relationship Type="http://schemas.openxmlformats.org/officeDocument/2006/relationships/image" Target="/ppt/media/image22.png" Id="R2a5e87d792004890" /><Relationship Type="http://schemas.openxmlformats.org/officeDocument/2006/relationships/chart" Target="/ppt/slides/charts/chart1.xml" Id="Rd846b575c3ac4740" /><Relationship Type="http://schemas.openxmlformats.org/officeDocument/2006/relationships/notesSlide" Target="/ppt/notesSlides/notesSlide11.xml" Id="R09150cb615b4470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6fea4d90bcc471f" /><Relationship Type="http://schemas.openxmlformats.org/officeDocument/2006/relationships/image" Target="/ppt/media/image23.png" Id="Ra0588259062d4793" /><Relationship Type="http://schemas.openxmlformats.org/officeDocument/2006/relationships/image" Target="/ppt/media/image24.png" Id="R29da5ec74ae54a6f" /><Relationship Type="http://schemas.openxmlformats.org/officeDocument/2006/relationships/notesSlide" Target="/ppt/notesSlides/notesSlide12.xml" Id="R667dedd5703446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9d4e6a203b445a5" /><Relationship Type="http://schemas.openxmlformats.org/officeDocument/2006/relationships/image" Target="/ppt/media/image25.png" Id="Rea52b1d8327c49b7" /><Relationship Type="http://schemas.openxmlformats.org/officeDocument/2006/relationships/image" Target="/ppt/media/image26.png" Id="Rfeb6d5dabff94cb4" /><Relationship Type="http://schemas.openxmlformats.org/officeDocument/2006/relationships/notesSlide" Target="/ppt/notesSlides/notesSlide13.xml" Id="Rb53010f02cd84b6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76ed12e4d1449dc" /><Relationship Type="http://schemas.openxmlformats.org/officeDocument/2006/relationships/image" Target="/ppt/media/image27.png" Id="R4a5dde0289d041ec" /><Relationship Type="http://schemas.openxmlformats.org/officeDocument/2006/relationships/image" Target="/ppt/media/image28.png" Id="R547b84e05dff4ef1" /><Relationship Type="http://schemas.openxmlformats.org/officeDocument/2006/relationships/notesSlide" Target="/ppt/notesSlides/notesSlide14.xml" Id="Re737683762de41a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14940f7596c45f3" /><Relationship Type="http://schemas.openxmlformats.org/officeDocument/2006/relationships/image" Target="/ppt/media/image29.png" Id="Rd32fee04c4184c20" /><Relationship Type="http://schemas.openxmlformats.org/officeDocument/2006/relationships/image" Target="/ppt/media/image30.png" Id="R309eedc84dd04f79" /><Relationship Type="http://schemas.openxmlformats.org/officeDocument/2006/relationships/notesSlide" Target="/ppt/notesSlides/notesSlide15.xml" Id="Ra2d2f61e9a1b491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Target</c:v>
          </c:tx>
          <c:spPr>
            <a:solidFill xmlns:a="http://schemas.openxmlformats.org/drawingml/2006/main">
              <a:srgbClr val="7F858C"/>
            </a:solidFill>
          </c:spPr>
          <c:cat>
            <c:strRef>
              <c:f>'Chart Data'!$A$2:$A$3</c:f>
              <c:strCache>
                <c:ptCount val="2"/>
                <c:pt idx="0">
                  <c:v>Compute tray</c:v>
                </c:pt>
                <c:pt idx="1">
                  <c:v>Switch tray</c:v>
                </c:pt>
              </c:strCache>
            </c:strRef>
          </c:cat>
          <c:val>
            <c:numRef>
              <c:f>'Chart Data'!$B$2:$B$3</c:f>
              <c:numCache>
                <c:formatCode>0.0</c:formatCode>
                <c:ptCount val="2"/>
                <c:pt idx="0">
                  <c:v>6.02</c:v>
                </c:pt>
                <c:pt idx="1">
                  <c:v>1.29</c:v>
                </c:pt>
              </c:numCache>
            </c:numRef>
          </c:val>
        </c:ser>
        <c:ser>
          <c:idx val="1"/>
          <c:order val="1"/>
          <c:tx>
            <c:v>Reference</c:v>
          </c:tx>
          <c:spPr>
            <a:solidFill xmlns:a="http://schemas.openxmlformats.org/drawingml/2006/main">
              <a:srgbClr val="95001A"/>
            </a:solidFill>
          </c:spPr>
          <c:cat>
            <c:strRef>
              <c:f>'Chart Data'!$C$2:$C$3</c:f>
              <c:strCache>
                <c:ptCount val="2"/>
                <c:pt idx="0">
                  <c:v>Compute tray</c:v>
                </c:pt>
                <c:pt idx="1">
                  <c:v>Switch tray</c:v>
                </c:pt>
              </c:strCache>
            </c:strRef>
          </c:cat>
          <c:val>
            <c:numRef>
              <c:f>'Chart Data'!$D$2:$D$3</c:f>
              <c:numCache>
                <c:formatCode>0.0</c:formatCode>
                <c:ptCount val="2"/>
                <c:pt idx="0">
                  <c:v>5.21</c:v>
                </c:pt>
                <c:pt idx="1">
                  <c:v>2.91</c:v>
                </c:pt>
              </c:numCache>
            </c:numRef>
          </c:val>
        </c:ser>
        <c:ser>
          <c:idx val="2"/>
          <c:order val="2"/>
          <c:tx>
            <c:v>Balanced</c:v>
          </c:tx>
          <c:spPr>
            <a:solidFill xmlns:a="http://schemas.openxmlformats.org/drawingml/2006/main">
              <a:srgbClr val="245F9C"/>
            </a:solidFill>
          </c:spPr>
          <c:cat>
            <c:strRef>
              <c:f>'Chart Data'!$E$2:$E$3</c:f>
              <c:strCache>
                <c:ptCount val="2"/>
                <c:pt idx="0">
                  <c:v>Compute tray</c:v>
                </c:pt>
                <c:pt idx="1">
                  <c:v>Switch tray</c:v>
                </c:pt>
              </c:strCache>
            </c:strRef>
          </c:cat>
          <c:val>
            <c:numRef>
              <c:f>'Chart Data'!$F$2:$F$3</c:f>
              <c:numCache>
                <c:formatCode>0.0</c:formatCode>
                <c:ptCount val="2"/>
                <c:pt idx="0">
                  <c:v>6.02</c:v>
                </c:pt>
                <c:pt idx="1">
                  <c:v>1.29</c:v>
                </c:pt>
              </c:numCache>
            </c:numRef>
          </c:val>
        </c:ser>
        <c:dLbls>
          <c:txPr>
            <a:bodyPr xmlns:a="http://schemas.openxmlformats.org/drawingml/2006/main" anchorCtr="1"/>
            <a:lstStyle xmlns:a="http://schemas.openxmlformats.org/drawingml/2006/main"/>
            <a:p xmlns:a="http://schemas.openxmlformats.org/drawingml/2006/main">
              <a:pPr>
                <a:defRPr sz="1275" b="1">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sz="1275">
                    <a:latin typeface="Arial"/>
                    <a:ea typeface="Arial"/>
                    <a:cs typeface="Arial"/>
                  </a:rPr>
                  <a:t>Flow per tray (L/min)</a:t>
                </a:r>
              </a:p>
            </c:rich>
          </c:tx>
          <c:overlay val="0"/>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144D"/>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9ef535cbdbe4f67"/>
          <a:stretch xmlns:a="http://schemas.openxmlformats.org/drawingml/2006/main"/>
        </p:blipFill>
        <p:spPr>
          <a:xfrm xmlns:a="http://schemas.openxmlformats.org/drawingml/2006/main">
            <a:off x="200344" y="152400"/>
            <a:ext cx="3075937" cy="345757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C577E31-7BEA-482F-A450-446651F178B7}"/>
              </a:ext>
            </a:extLst>
          </p:cNvPr>
          <p:cNvSpPr>
            <a:spLocks xmlns:a="http://schemas.openxmlformats.org/drawingml/2006/main" noGrp="1"/>
          </p:cNvSpPr>
          <p:nvPr/>
        </p:nvSpPr>
        <p:spPr>
          <a:xfrm xmlns:a="http://schemas.openxmlformats.org/drawingml/2006/main">
            <a:off x="1028700" y="1609725"/>
            <a:ext cx="7572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FFFFFF"/>
                </a:solidFill>
                <a:latin typeface="GillSans"/>
                <a:ea typeface="GillSans"/>
                <a:cs typeface="GillSans"/>
              </a:defRPr>
            </a:pPr>
            <a:r>
              <a:rPr sz="3300" b="1">
                <a:solidFill>
                  <a:srgbClr val="FFFFFF"/>
                </a:solidFill>
                <a:latin typeface="GillSans"/>
                <a:ea typeface="GillSans"/>
                <a:cs typeface="GillSans"/>
              </a:rPr>
              <a:t>MEAM 5020 Final Project</a:t>
            </a:r>
          </a:p>
          <a:p xmlns:a="http://schemas.openxmlformats.org/drawingml/2006/main">
            <a:pPr>
              <a:defRPr sz="3300" b="1">
                <a:solidFill>
                  <a:srgbClr val="FFFFFF"/>
                </a:solidFill>
                <a:latin typeface="GillSans"/>
                <a:ea typeface="GillSans"/>
                <a:cs typeface="GillSans"/>
              </a:defRPr>
            </a:pPr>
            <a:r>
              <a:rPr sz="3300" b="1">
                <a:solidFill>
                  <a:srgbClr val="FFFFFF"/>
                </a:solidFill>
                <a:latin typeface="GillSans"/>
                <a:ea typeface="GillSans"/>
                <a:cs typeface="GillSans"/>
              </a:rPr>
              <a:t>Rack Manifold Optimization</a:t>
            </a:r>
          </a:p>
        </p:txBody>
      </p:sp>
      <p:sp>
        <p:nvSpPr>
          <p:cNvPr id="3" name="">
            <a:extLst xmlns:a="http://schemas.openxmlformats.org/drawingml/2006/main">
              <a:ext uri="{FF2B5EF4-FFF2-40B4-BE49-F238E27FC236}">
                <a16:creationId xmlns:a16="http://schemas.microsoft.com/office/drawing/2014/main" id="{45C5B051-77BB-4E51-AEDE-75CCD2B0D55D}"/>
              </a:ext>
            </a:extLst>
          </p:cNvPr>
          <p:cNvSpPr>
            <a:spLocks xmlns:a="http://schemas.openxmlformats.org/drawingml/2006/main" noGrp="1"/>
          </p:cNvSpPr>
          <p:nvPr/>
        </p:nvSpPr>
        <p:spPr>
          <a:xfrm xmlns:a="http://schemas.openxmlformats.org/drawingml/2006/main">
            <a:off x="0" y="3000375"/>
            <a:ext cx="8334375"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4E233B2E-12EB-4652-8C3E-4631CC78B966}"/>
              </a:ext>
            </a:extLst>
          </p:cNvPr>
          <p:cNvSpPr>
            <a:spLocks xmlns:a="http://schemas.openxmlformats.org/drawingml/2006/main" noGrp="1"/>
          </p:cNvSpPr>
          <p:nvPr/>
        </p:nvSpPr>
        <p:spPr>
          <a:xfrm xmlns:a="http://schemas.openxmlformats.org/drawingml/2006/main">
            <a:off x="7086600" y="3000375"/>
            <a:ext cx="12477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sp>
        <p:nvSpPr>
          <p:cNvPr id="5" name="">
            <a:extLst xmlns:a="http://schemas.openxmlformats.org/drawingml/2006/main">
              <a:ext uri="{FF2B5EF4-FFF2-40B4-BE49-F238E27FC236}">
                <a16:creationId xmlns:a16="http://schemas.microsoft.com/office/drawing/2014/main" id="{CD7275C9-00F0-439E-81B7-74EDB6A0BB2D}"/>
              </a:ext>
            </a:extLst>
          </p:cNvPr>
          <p:cNvSpPr>
            <a:spLocks xmlns:a="http://schemas.openxmlformats.org/drawingml/2006/main" noGrp="1"/>
          </p:cNvSpPr>
          <p:nvPr/>
        </p:nvSpPr>
        <p:spPr>
          <a:xfrm xmlns:a="http://schemas.openxmlformats.org/drawingml/2006/main">
            <a:off x="1028700" y="3248025"/>
            <a:ext cx="742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82AED3"/>
                </a:solidFill>
                <a:latin typeface="GillSans"/>
                <a:ea typeface="GillSans"/>
                <a:cs typeface="GillSans"/>
              </a:defRPr>
            </a:pPr>
            <a:r>
              <a:rPr sz="1725" b="0">
                <a:solidFill>
                  <a:srgbClr val="82AED3"/>
                </a:solidFill>
                <a:latin typeface="GillSans"/>
                <a:ea typeface="GillSans"/>
                <a:cs typeface="GillSans"/>
              </a:rPr>
              <a:t>Constantin de Lint, David Kim, Jason Simon, Sam Vasington</a:t>
            </a:r>
          </a:p>
        </p:txBody>
      </p:sp>
      <p:sp>
        <p:nvSpPr>
          <p:cNvPr id="6" name="">
            <a:extLst xmlns:a="http://schemas.openxmlformats.org/drawingml/2006/main">
              <a:ext uri="{FF2B5EF4-FFF2-40B4-BE49-F238E27FC236}">
                <a16:creationId xmlns:a16="http://schemas.microsoft.com/office/drawing/2014/main" id="{C0BB8148-63AD-4BEF-ADA3-A36CCD403359}"/>
              </a:ext>
            </a:extLst>
          </p:cNvPr>
          <p:cNvSpPr>
            <a:spLocks xmlns:a="http://schemas.openxmlformats.org/drawingml/2006/main" noGrp="1"/>
          </p:cNvSpPr>
          <p:nvPr/>
        </p:nvSpPr>
        <p:spPr>
          <a:xfrm xmlns:a="http://schemas.openxmlformats.org/drawingml/2006/main">
            <a:off x="1028700" y="3733800"/>
            <a:ext cx="719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Assignment 4: Previous work, design changes, and calculation plan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e6424a6a7d44d8b"/>
          <a:stretch xmlns:a="http://schemas.openxmlformats.org/drawingml/2006/main"/>
        </p:blipFill>
        <p:spPr>
          <a:xfrm xmlns:a="http://schemas.openxmlformats.org/drawingml/2006/main">
            <a:off x="6581775" y="4295817"/>
            <a:ext cx="1771650" cy="647615"/>
          </a:xfrm>
          <a:prstGeom xmlns:a="http://schemas.openxmlformats.org/drawingml/2006/main" prst="rect">
            <a:avLst/>
          </a:prstGeom>
        </p:spPr>
      </p:pic>
    </p:spTree>
    <p:extLst>
      <p:ext uri="{BB962C8B-B14F-4D97-AF65-F5344CB8AC3E}">
        <p14:creationId xmlns:p14="http://schemas.microsoft.com/office/powerpoint/2010/main" val="4921138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6fabb16d716423c"/>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21971EB-585B-44D9-93E2-30F1BDDCE9BD}"/>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Coolant Distribution Across an AI Rack</a:t>
            </a:r>
          </a:p>
        </p:txBody>
      </p:sp>
      <p:sp>
        <p:nvSpPr>
          <p:cNvPr id="3" name="">
            <a:extLst xmlns:a="http://schemas.openxmlformats.org/drawingml/2006/main">
              <a:ext uri="{FF2B5EF4-FFF2-40B4-BE49-F238E27FC236}">
                <a16:creationId xmlns:a16="http://schemas.microsoft.com/office/drawing/2014/main" id="{4A4221E9-10D2-49C5-82ED-B8A457E61E15}"/>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44B2BB26-F8D4-4CCB-9096-6450339E0AAD}"/>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b65df70092484f43"/>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8AE27EA-8909-43CD-B334-48FA7811F368}"/>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142F37CA-ED48-43D9-A205-59D63ECF8655}"/>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[4] [7]  Sources and calculation details in speaker notes.</a:t>
            </a:r>
          </a:p>
        </p:txBody>
      </p:sp>
      <p:sp>
        <p:nvSpPr>
          <p:cNvPr id="8" name="">
            <a:extLst xmlns:a="http://schemas.openxmlformats.org/drawingml/2006/main">
              <a:ext uri="{FF2B5EF4-FFF2-40B4-BE49-F238E27FC236}">
                <a16:creationId xmlns:a16="http://schemas.microsoft.com/office/drawing/2014/main" id="{A108B949-F9BE-4536-80DE-F420DB4BA7A4}"/>
              </a:ext>
            </a:extLst>
          </p:cNvPr>
          <p:cNvSpPr>
            <a:spLocks xmlns:a="http://schemas.openxmlformats.org/drawingml/2006/main" noGrp="1"/>
          </p:cNvSpPr>
          <p:nvPr/>
        </p:nvSpPr>
        <p:spPr>
          <a:xfrm xmlns:a="http://schemas.openxmlformats.org/drawingml/2006/main">
            <a:off x="619125" y="1524000"/>
            <a:ext cx="174879" cy="2137410"/>
          </a:xfrm>
          <a:prstGeom xmlns:a="http://schemas.openxmlformats.org/drawingml/2006/main" prst="rect">
            <a:avLst/>
          </a:prstGeom>
          <a:solidFill xmlns:a="http://schemas.openxmlformats.org/drawingml/2006/main">
            <a:srgbClr val="DCECF7"/>
          </a:solidFill>
          <a:ln xmlns:a="http://schemas.openxmlformats.org/drawingml/2006/main" w="19050">
            <a:solidFill>
              <a:srgbClr val="3979AB"/>
            </a:solidFill>
          </a:ln>
        </p:spPr>
      </p:sp>
      <p:sp>
        <p:nvSpPr>
          <p:cNvPr id="9" name="">
            <a:extLst xmlns:a="http://schemas.openxmlformats.org/drawingml/2006/main">
              <a:ext uri="{FF2B5EF4-FFF2-40B4-BE49-F238E27FC236}">
                <a16:creationId xmlns:a16="http://schemas.microsoft.com/office/drawing/2014/main" id="{1F890F16-C821-4A56-98F3-0F2BA53EBE4D}"/>
              </a:ext>
            </a:extLst>
          </p:cNvPr>
          <p:cNvSpPr>
            <a:spLocks xmlns:a="http://schemas.openxmlformats.org/drawingml/2006/main" noGrp="1"/>
          </p:cNvSpPr>
          <p:nvPr/>
        </p:nvSpPr>
        <p:spPr>
          <a:xfrm xmlns:a="http://schemas.openxmlformats.org/drawingml/2006/main">
            <a:off x="3388043" y="1524000"/>
            <a:ext cx="174879" cy="2137410"/>
          </a:xfrm>
          <a:prstGeom xmlns:a="http://schemas.openxmlformats.org/drawingml/2006/main" prst="rect">
            <a:avLst/>
          </a:prstGeom>
          <a:solidFill xmlns:a="http://schemas.openxmlformats.org/drawingml/2006/main">
            <a:srgbClr val="F6DFDF"/>
          </a:solidFill>
          <a:ln xmlns:a="http://schemas.openxmlformats.org/drawingml/2006/main" w="19050">
            <a:solidFill>
              <a:srgbClr val="B84145"/>
            </a:solidFill>
          </a:ln>
        </p:spPr>
      </p:sp>
      <p:sp>
        <p:nvSpPr>
          <p:cNvPr id="10" name="">
            <a:extLst xmlns:a="http://schemas.openxmlformats.org/drawingml/2006/main">
              <a:ext uri="{FF2B5EF4-FFF2-40B4-BE49-F238E27FC236}">
                <a16:creationId xmlns:a16="http://schemas.microsoft.com/office/drawing/2014/main" id="{728D2CA1-C7AD-4D9C-9163-00AFA45D1B13}"/>
              </a:ext>
            </a:extLst>
          </p:cNvPr>
          <p:cNvSpPr>
            <a:spLocks xmlns:a="http://schemas.openxmlformats.org/drawingml/2006/main" noGrp="1"/>
          </p:cNvSpPr>
          <p:nvPr/>
        </p:nvSpPr>
        <p:spPr>
          <a:xfrm xmlns:a="http://schemas.openxmlformats.org/drawingml/2006/main">
            <a:off x="794004" y="1980629"/>
            <a:ext cx="259403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11" name="">
            <a:extLst xmlns:a="http://schemas.openxmlformats.org/drawingml/2006/main">
              <a:ext uri="{FF2B5EF4-FFF2-40B4-BE49-F238E27FC236}">
                <a16:creationId xmlns:a16="http://schemas.microsoft.com/office/drawing/2014/main" id="{4817D507-3603-4100-9580-430E12945C15}"/>
              </a:ext>
            </a:extLst>
          </p:cNvPr>
          <p:cNvSpPr>
            <a:spLocks xmlns:a="http://schemas.openxmlformats.org/drawingml/2006/main" noGrp="1"/>
          </p:cNvSpPr>
          <p:nvPr/>
        </p:nvSpPr>
        <p:spPr>
          <a:xfrm xmlns:a="http://schemas.openxmlformats.org/drawingml/2006/main">
            <a:off x="1542098" y="1815465"/>
            <a:ext cx="1311593" cy="330327"/>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12" name="">
            <a:extLst xmlns:a="http://schemas.openxmlformats.org/drawingml/2006/main">
              <a:ext uri="{FF2B5EF4-FFF2-40B4-BE49-F238E27FC236}">
                <a16:creationId xmlns:a16="http://schemas.microsoft.com/office/drawing/2014/main" id="{A0032598-D177-4AD5-9131-7A154BA69245}"/>
              </a:ext>
            </a:extLst>
          </p:cNvPr>
          <p:cNvSpPr>
            <a:spLocks xmlns:a="http://schemas.openxmlformats.org/drawingml/2006/main" noGrp="1"/>
          </p:cNvSpPr>
          <p:nvPr/>
        </p:nvSpPr>
        <p:spPr>
          <a:xfrm xmlns:a="http://schemas.openxmlformats.org/drawingml/2006/main">
            <a:off x="1629537" y="1854327"/>
            <a:ext cx="121443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77" b="0">
                <a:solidFill>
                  <a:srgbClr val="242B35"/>
                </a:solidFill>
                <a:latin typeface="Arial"/>
                <a:ea typeface="Arial"/>
                <a:cs typeface="Arial"/>
              </a:defRPr>
            </a:pPr>
            <a:r>
              <a:rPr sz="1377" b="0">
                <a:solidFill>
                  <a:srgbClr val="242B35"/>
                </a:solidFill>
                <a:latin typeface="Arial"/>
                <a:ea typeface="Arial"/>
                <a:cs typeface="Arial"/>
              </a:rPr>
              <a:t>Compute</a:t>
            </a:r>
          </a:p>
        </p:txBody>
      </p:sp>
      <p:sp>
        <p:nvSpPr>
          <p:cNvPr id="13" name="">
            <a:extLst xmlns:a="http://schemas.openxmlformats.org/drawingml/2006/main">
              <a:ext uri="{FF2B5EF4-FFF2-40B4-BE49-F238E27FC236}">
                <a16:creationId xmlns:a16="http://schemas.microsoft.com/office/drawing/2014/main" id="{A5DDD4B5-7496-4236-B0E1-AD4A3F1F1959}"/>
              </a:ext>
            </a:extLst>
          </p:cNvPr>
          <p:cNvSpPr>
            <a:spLocks xmlns:a="http://schemas.openxmlformats.org/drawingml/2006/main" noGrp="1"/>
          </p:cNvSpPr>
          <p:nvPr/>
        </p:nvSpPr>
        <p:spPr>
          <a:xfrm xmlns:a="http://schemas.openxmlformats.org/drawingml/2006/main">
            <a:off x="794004" y="2621852"/>
            <a:ext cx="259403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14" name="">
            <a:extLst xmlns:a="http://schemas.openxmlformats.org/drawingml/2006/main">
              <a:ext uri="{FF2B5EF4-FFF2-40B4-BE49-F238E27FC236}">
                <a16:creationId xmlns:a16="http://schemas.microsoft.com/office/drawing/2014/main" id="{114C219A-60D6-44DA-A900-444221E230DD}"/>
              </a:ext>
            </a:extLst>
          </p:cNvPr>
          <p:cNvSpPr>
            <a:spLocks xmlns:a="http://schemas.openxmlformats.org/drawingml/2006/main" noGrp="1"/>
          </p:cNvSpPr>
          <p:nvPr/>
        </p:nvSpPr>
        <p:spPr>
          <a:xfrm xmlns:a="http://schemas.openxmlformats.org/drawingml/2006/main">
            <a:off x="1542098" y="2456688"/>
            <a:ext cx="1311593" cy="330327"/>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15" name="">
            <a:extLst xmlns:a="http://schemas.openxmlformats.org/drawingml/2006/main">
              <a:ext uri="{FF2B5EF4-FFF2-40B4-BE49-F238E27FC236}">
                <a16:creationId xmlns:a16="http://schemas.microsoft.com/office/drawing/2014/main" id="{4D92BD4E-D622-46A8-9067-0E1A03612850}"/>
              </a:ext>
            </a:extLst>
          </p:cNvPr>
          <p:cNvSpPr>
            <a:spLocks xmlns:a="http://schemas.openxmlformats.org/drawingml/2006/main" noGrp="1"/>
          </p:cNvSpPr>
          <p:nvPr/>
        </p:nvSpPr>
        <p:spPr>
          <a:xfrm xmlns:a="http://schemas.openxmlformats.org/drawingml/2006/main">
            <a:off x="1629537" y="2495550"/>
            <a:ext cx="121443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77" b="0">
                <a:solidFill>
                  <a:srgbClr val="242B35"/>
                </a:solidFill>
                <a:latin typeface="Arial"/>
                <a:ea typeface="Arial"/>
                <a:cs typeface="Arial"/>
              </a:defRPr>
            </a:pPr>
            <a:r>
              <a:rPr sz="1377" b="0">
                <a:solidFill>
                  <a:srgbClr val="242B35"/>
                </a:solidFill>
                <a:latin typeface="Arial"/>
                <a:ea typeface="Arial"/>
                <a:cs typeface="Arial"/>
              </a:rPr>
              <a:t>Switch</a:t>
            </a:r>
          </a:p>
        </p:txBody>
      </p:sp>
      <p:sp>
        <p:nvSpPr>
          <p:cNvPr id="16" name="">
            <a:extLst xmlns:a="http://schemas.openxmlformats.org/drawingml/2006/main">
              <a:ext uri="{FF2B5EF4-FFF2-40B4-BE49-F238E27FC236}">
                <a16:creationId xmlns:a16="http://schemas.microsoft.com/office/drawing/2014/main" id="{FFE7CAB0-BD4A-4D35-BA12-56A03D6E3FCC}"/>
              </a:ext>
            </a:extLst>
          </p:cNvPr>
          <p:cNvSpPr>
            <a:spLocks xmlns:a="http://schemas.openxmlformats.org/drawingml/2006/main" noGrp="1"/>
          </p:cNvSpPr>
          <p:nvPr/>
        </p:nvSpPr>
        <p:spPr>
          <a:xfrm xmlns:a="http://schemas.openxmlformats.org/drawingml/2006/main">
            <a:off x="794004" y="3263075"/>
            <a:ext cx="259403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17" name="">
            <a:extLst xmlns:a="http://schemas.openxmlformats.org/drawingml/2006/main">
              <a:ext uri="{FF2B5EF4-FFF2-40B4-BE49-F238E27FC236}">
                <a16:creationId xmlns:a16="http://schemas.microsoft.com/office/drawing/2014/main" id="{D0AC8205-E3F2-4D8F-BC18-EAF662531059}"/>
              </a:ext>
            </a:extLst>
          </p:cNvPr>
          <p:cNvSpPr>
            <a:spLocks xmlns:a="http://schemas.openxmlformats.org/drawingml/2006/main" noGrp="1"/>
          </p:cNvSpPr>
          <p:nvPr/>
        </p:nvSpPr>
        <p:spPr>
          <a:xfrm xmlns:a="http://schemas.openxmlformats.org/drawingml/2006/main">
            <a:off x="1542098" y="3097911"/>
            <a:ext cx="1311593" cy="330327"/>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18" name="">
            <a:extLst xmlns:a="http://schemas.openxmlformats.org/drawingml/2006/main">
              <a:ext uri="{FF2B5EF4-FFF2-40B4-BE49-F238E27FC236}">
                <a16:creationId xmlns:a16="http://schemas.microsoft.com/office/drawing/2014/main" id="{9F506D3A-FDAA-4403-B3BF-A0C7937454EA}"/>
              </a:ext>
            </a:extLst>
          </p:cNvPr>
          <p:cNvSpPr>
            <a:spLocks xmlns:a="http://schemas.openxmlformats.org/drawingml/2006/main" noGrp="1"/>
          </p:cNvSpPr>
          <p:nvPr/>
        </p:nvSpPr>
        <p:spPr>
          <a:xfrm xmlns:a="http://schemas.openxmlformats.org/drawingml/2006/main">
            <a:off x="1629537" y="3136773"/>
            <a:ext cx="1214438"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77" b="0">
                <a:solidFill>
                  <a:srgbClr val="242B35"/>
                </a:solidFill>
                <a:latin typeface="Arial"/>
                <a:ea typeface="Arial"/>
                <a:cs typeface="Arial"/>
              </a:defRPr>
            </a:pPr>
            <a:r>
              <a:rPr sz="1377" b="0">
                <a:solidFill>
                  <a:srgbClr val="242B35"/>
                </a:solidFill>
                <a:latin typeface="Arial"/>
                <a:ea typeface="Arial"/>
                <a:cs typeface="Arial"/>
              </a:rPr>
              <a:t>Compute</a:t>
            </a:r>
          </a:p>
        </p:txBody>
      </p:sp>
      <p:sp>
        <p:nvSpPr>
          <p:cNvPr id="19" name="">
            <a:extLst xmlns:a="http://schemas.openxmlformats.org/drawingml/2006/main">
              <a:ext uri="{FF2B5EF4-FFF2-40B4-BE49-F238E27FC236}">
                <a16:creationId xmlns:a16="http://schemas.microsoft.com/office/drawing/2014/main" id="{29B5AB3E-C403-4FAD-9832-0ED127B43C97}"/>
              </a:ext>
            </a:extLst>
          </p:cNvPr>
          <p:cNvSpPr>
            <a:spLocks xmlns:a="http://schemas.openxmlformats.org/drawingml/2006/main" noGrp="1"/>
          </p:cNvSpPr>
          <p:nvPr/>
        </p:nvSpPr>
        <p:spPr>
          <a:xfrm xmlns:a="http://schemas.openxmlformats.org/drawingml/2006/main">
            <a:off x="531686" y="1232535"/>
            <a:ext cx="922973"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77" b="0">
                <a:solidFill>
                  <a:srgbClr val="3979AB"/>
                </a:solidFill>
                <a:latin typeface="Arial"/>
                <a:ea typeface="Arial"/>
                <a:cs typeface="Arial"/>
              </a:defRPr>
            </a:pPr>
            <a:r>
              <a:rPr sz="1377" b="0">
                <a:solidFill>
                  <a:srgbClr val="3979AB"/>
                </a:solidFill>
                <a:latin typeface="Arial"/>
                <a:ea typeface="Arial"/>
                <a:cs typeface="Arial"/>
              </a:rPr>
              <a:t>Supply</a:t>
            </a:r>
          </a:p>
        </p:txBody>
      </p:sp>
      <p:sp>
        <p:nvSpPr>
          <p:cNvPr id="20" name="">
            <a:extLst xmlns:a="http://schemas.openxmlformats.org/drawingml/2006/main">
              <a:ext uri="{FF2B5EF4-FFF2-40B4-BE49-F238E27FC236}">
                <a16:creationId xmlns:a16="http://schemas.microsoft.com/office/drawing/2014/main" id="{86CC6233-885C-4A99-AB22-7C5E0DC7435A}"/>
              </a:ext>
            </a:extLst>
          </p:cNvPr>
          <p:cNvSpPr>
            <a:spLocks xmlns:a="http://schemas.openxmlformats.org/drawingml/2006/main" noGrp="1"/>
          </p:cNvSpPr>
          <p:nvPr/>
        </p:nvSpPr>
        <p:spPr>
          <a:xfrm xmlns:a="http://schemas.openxmlformats.org/drawingml/2006/main">
            <a:off x="3213164" y="1232535"/>
            <a:ext cx="9715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77" b="0">
                <a:solidFill>
                  <a:srgbClr val="B84145"/>
                </a:solidFill>
                <a:latin typeface="Arial"/>
                <a:ea typeface="Arial"/>
                <a:cs typeface="Arial"/>
              </a:defRPr>
            </a:pPr>
            <a:r>
              <a:rPr sz="1377" b="0">
                <a:solidFill>
                  <a:srgbClr val="B84145"/>
                </a:solidFill>
                <a:latin typeface="Arial"/>
                <a:ea typeface="Arial"/>
                <a:cs typeface="Arial"/>
              </a:rPr>
              <a:t>Return</a:t>
            </a:r>
          </a:p>
        </p:txBody>
      </p:sp>
      <p:sp>
        <p:nvSpPr>
          <p:cNvPr id="21" name="">
            <a:extLst xmlns:a="http://schemas.openxmlformats.org/drawingml/2006/main">
              <a:ext uri="{FF2B5EF4-FFF2-40B4-BE49-F238E27FC236}">
                <a16:creationId xmlns:a16="http://schemas.microsoft.com/office/drawing/2014/main" id="{130EEA4F-2DFC-488D-BFD1-6F101047FB0B}"/>
              </a:ext>
            </a:extLst>
          </p:cNvPr>
          <p:cNvSpPr>
            <a:spLocks xmlns:a="http://schemas.openxmlformats.org/drawingml/2006/main" noGrp="1"/>
          </p:cNvSpPr>
          <p:nvPr/>
        </p:nvSpPr>
        <p:spPr>
          <a:xfrm xmlns:a="http://schemas.openxmlformats.org/drawingml/2006/main">
            <a:off x="638556" y="3301936"/>
            <a:ext cx="126302" cy="252603"/>
          </a:xfrm>
          <a:prstGeom xmlns:a="http://schemas.openxmlformats.org/drawingml/2006/main" prst="upArrow">
            <a:avLst/>
          </a:prstGeom>
          <a:solidFill xmlns:a="http://schemas.openxmlformats.org/drawingml/2006/main">
            <a:srgbClr val="3979AB"/>
          </a:solidFill>
          <a:ln xmlns:a="http://schemas.openxmlformats.org/drawingml/2006/main" w="0">
            <a:solidFill>
              <a:srgbClr val="3979AB"/>
            </a:solidFill>
          </a:ln>
        </p:spPr>
      </p:sp>
      <p:sp>
        <p:nvSpPr>
          <p:cNvPr id="22" name="">
            <a:extLst xmlns:a="http://schemas.openxmlformats.org/drawingml/2006/main">
              <a:ext uri="{FF2B5EF4-FFF2-40B4-BE49-F238E27FC236}">
                <a16:creationId xmlns:a16="http://schemas.microsoft.com/office/drawing/2014/main" id="{59CC83D1-B60D-482C-91B7-FFDCBE6CE114}"/>
              </a:ext>
            </a:extLst>
          </p:cNvPr>
          <p:cNvSpPr>
            <a:spLocks xmlns:a="http://schemas.openxmlformats.org/drawingml/2006/main" noGrp="1"/>
          </p:cNvSpPr>
          <p:nvPr/>
        </p:nvSpPr>
        <p:spPr>
          <a:xfrm xmlns:a="http://schemas.openxmlformats.org/drawingml/2006/main">
            <a:off x="3417189" y="3301936"/>
            <a:ext cx="126302" cy="252603"/>
          </a:xfrm>
          <a:prstGeom xmlns:a="http://schemas.openxmlformats.org/drawingml/2006/main" prst="downArrow">
            <a:avLst/>
          </a:prstGeom>
          <a:solidFill xmlns:a="http://schemas.openxmlformats.org/drawingml/2006/main">
            <a:srgbClr val="B84145"/>
          </a:solidFill>
          <a:ln xmlns:a="http://schemas.openxmlformats.org/drawingml/2006/main" w="0">
            <a:solidFill>
              <a:srgbClr val="B84145"/>
            </a:solidFill>
          </a:ln>
        </p:spPr>
      </p:sp>
      <p:sp>
        <p:nvSpPr>
          <p:cNvPr id="23" name="">
            <a:extLst xmlns:a="http://schemas.openxmlformats.org/drawingml/2006/main">
              <a:ext uri="{FF2B5EF4-FFF2-40B4-BE49-F238E27FC236}">
                <a16:creationId xmlns:a16="http://schemas.microsoft.com/office/drawing/2014/main" id="{54A0ECBA-5C72-42A5-B3D5-18DE2A6E2EB7}"/>
              </a:ext>
            </a:extLst>
          </p:cNvPr>
          <p:cNvSpPr>
            <a:spLocks xmlns:a="http://schemas.openxmlformats.org/drawingml/2006/main" noGrp="1"/>
          </p:cNvSpPr>
          <p:nvPr/>
        </p:nvSpPr>
        <p:spPr>
          <a:xfrm xmlns:a="http://schemas.openxmlformats.org/drawingml/2006/main">
            <a:off x="4238625" y="1047750"/>
            <a:ext cx="442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Purpose</a:t>
            </a:r>
          </a:p>
        </p:txBody>
      </p:sp>
      <p:sp>
        <p:nvSpPr>
          <p:cNvPr id="24" name="">
            <a:extLst xmlns:a="http://schemas.openxmlformats.org/drawingml/2006/main">
              <a:ext uri="{FF2B5EF4-FFF2-40B4-BE49-F238E27FC236}">
                <a16:creationId xmlns:a16="http://schemas.microsoft.com/office/drawing/2014/main" id="{8A1F57CD-1A81-45E7-BBF7-294F218B0AD9}"/>
              </a:ext>
            </a:extLst>
          </p:cNvPr>
          <p:cNvSpPr>
            <a:spLocks xmlns:a="http://schemas.openxmlformats.org/drawingml/2006/main" noGrp="1"/>
          </p:cNvSpPr>
          <p:nvPr/>
        </p:nvSpPr>
        <p:spPr>
          <a:xfrm xmlns:a="http://schemas.openxmlformats.org/drawingml/2006/main">
            <a:off x="4238625" y="1371600"/>
            <a:ext cx="442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Deliver the cooling flow each tray needs while limiting pressure loss and pump power.</a:t>
            </a:r>
          </a:p>
        </p:txBody>
      </p:sp>
      <p:sp>
        <p:nvSpPr>
          <p:cNvPr id="25" name="">
            <a:extLst xmlns:a="http://schemas.openxmlformats.org/drawingml/2006/main">
              <a:ext uri="{FF2B5EF4-FFF2-40B4-BE49-F238E27FC236}">
                <a16:creationId xmlns:a16="http://schemas.microsoft.com/office/drawing/2014/main" id="{B96D6AB5-B2C5-4486-AC96-83AED8D6E9D3}"/>
              </a:ext>
            </a:extLst>
          </p:cNvPr>
          <p:cNvSpPr>
            <a:spLocks xmlns:a="http://schemas.openxmlformats.org/drawingml/2006/main" noGrp="1"/>
          </p:cNvSpPr>
          <p:nvPr/>
        </p:nvSpPr>
        <p:spPr>
          <a:xfrm xmlns:a="http://schemas.openxmlformats.org/drawingml/2006/main">
            <a:off x="4238625" y="2238375"/>
            <a:ext cx="442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How it works</a:t>
            </a:r>
          </a:p>
        </p:txBody>
      </p:sp>
      <p:sp>
        <p:nvSpPr>
          <p:cNvPr id="26" name="">
            <a:extLst xmlns:a="http://schemas.openxmlformats.org/drawingml/2006/main">
              <a:ext uri="{FF2B5EF4-FFF2-40B4-BE49-F238E27FC236}">
                <a16:creationId xmlns:a16="http://schemas.microsoft.com/office/drawing/2014/main" id="{42663C72-D9A9-4D70-8814-40E6E4B4E64F}"/>
              </a:ext>
            </a:extLst>
          </p:cNvPr>
          <p:cNvSpPr>
            <a:spLocks xmlns:a="http://schemas.openxmlformats.org/drawingml/2006/main" noGrp="1"/>
          </p:cNvSpPr>
          <p:nvPr/>
        </p:nvSpPr>
        <p:spPr>
          <a:xfrm xmlns:a="http://schemas.openxmlformats.org/drawingml/2006/main">
            <a:off x="4238625" y="2562225"/>
            <a:ext cx="442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A supply header feeds parallel tray branches. Cold plates absorb heat; a return header carries it to the CDU heat exchanger.</a:t>
            </a:r>
          </a:p>
        </p:txBody>
      </p:sp>
      <p:sp>
        <p:nvSpPr>
          <p:cNvPr id="27" name="">
            <a:extLst xmlns:a="http://schemas.openxmlformats.org/drawingml/2006/main">
              <a:ext uri="{FF2B5EF4-FFF2-40B4-BE49-F238E27FC236}">
                <a16:creationId xmlns:a16="http://schemas.microsoft.com/office/drawing/2014/main" id="{7545D345-B1F8-4293-8166-50154E77A55E}"/>
              </a:ext>
            </a:extLst>
          </p:cNvPr>
          <p:cNvSpPr>
            <a:spLocks xmlns:a="http://schemas.openxmlformats.org/drawingml/2006/main" noGrp="1"/>
          </p:cNvSpPr>
          <p:nvPr/>
        </p:nvSpPr>
        <p:spPr>
          <a:xfrm xmlns:a="http://schemas.openxmlformats.org/drawingml/2006/main">
            <a:off x="552450" y="3848100"/>
            <a:ext cx="3762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00144D"/>
                </a:solidFill>
                <a:latin typeface="Arial"/>
                <a:ea typeface="Arial"/>
                <a:cs typeface="Arial"/>
              </a:defRPr>
            </a:pPr>
            <a:r>
              <a:rPr sz="1575" b="1">
                <a:solidFill>
                  <a:srgbClr val="00144D"/>
                </a:solidFill>
                <a:latin typeface="Arial"/>
                <a:ea typeface="Arial"/>
                <a:cs typeface="Arial"/>
              </a:rPr>
              <a:t>18 compute trays + 9 switch trays</a:t>
            </a:r>
          </a:p>
          <a:p xmlns:a="http://schemas.openxmlformats.org/drawingml/2006/main">
            <a:pPr>
              <a:defRPr sz="1575" b="1">
                <a:solidFill>
                  <a:srgbClr val="00144D"/>
                </a:solidFill>
                <a:latin typeface="Arial"/>
                <a:ea typeface="Arial"/>
                <a:cs typeface="Arial"/>
              </a:defRPr>
            </a:pPr>
            <a:r>
              <a:rPr sz="1575" b="1">
                <a:solidFill>
                  <a:srgbClr val="00144D"/>
                </a:solidFill>
                <a:latin typeface="Arial"/>
                <a:ea typeface="Arial"/>
                <a:cs typeface="Arial"/>
              </a:rPr>
              <a:t>72 GPUs + 36 CPUs</a:t>
            </a:r>
          </a:p>
        </p:txBody>
      </p:sp>
      <p:sp>
        <p:nvSpPr>
          <p:cNvPr id="28" name="">
            <a:extLst xmlns:a="http://schemas.openxmlformats.org/drawingml/2006/main">
              <a:ext uri="{FF2B5EF4-FFF2-40B4-BE49-F238E27FC236}">
                <a16:creationId xmlns:a16="http://schemas.microsoft.com/office/drawing/2014/main" id="{6038BA04-FF85-42D6-BC99-C5DCA690466E}"/>
              </a:ext>
            </a:extLst>
          </p:cNvPr>
          <p:cNvSpPr>
            <a:spLocks xmlns:a="http://schemas.openxmlformats.org/drawingml/2006/main" noGrp="1"/>
          </p:cNvSpPr>
          <p:nvPr/>
        </p:nvSpPr>
        <p:spPr>
          <a:xfrm xmlns:a="http://schemas.openxmlformats.org/drawingml/2006/main">
            <a:off x="4238625" y="3524250"/>
            <a:ext cx="44005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95001A"/>
                </a:solidFill>
                <a:latin typeface="Arial"/>
                <a:ea typeface="Arial"/>
                <a:cs typeface="Arial"/>
              </a:defRPr>
            </a:pPr>
            <a:r>
              <a:rPr sz="1650" b="0">
                <a:solidFill>
                  <a:srgbClr val="95001A"/>
                </a:solidFill>
                <a:latin typeface="Arial"/>
                <a:ea typeface="Arial"/>
                <a:cs typeface="Arial"/>
              </a:rPr>
              <a:t>Different heat loads and flow resistances create different cooling needs.</a:t>
            </a:r>
          </a:p>
        </p:txBody>
      </p:sp>
    </p:spTree>
    <p:extLst>
      <p:ext uri="{BB962C8B-B14F-4D97-AF65-F5344CB8AC3E}">
        <p14:creationId xmlns:p14="http://schemas.microsoft.com/office/powerpoint/2010/main" val="8877605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ba69f84402e496b"/>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3BDB362-0343-4376-B9A3-25A8FDAED0F3}"/>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Three Approaches From Previous Work</a:t>
            </a:r>
          </a:p>
        </p:txBody>
      </p:sp>
      <p:sp>
        <p:nvSpPr>
          <p:cNvPr id="3" name="">
            <a:extLst xmlns:a="http://schemas.openxmlformats.org/drawingml/2006/main">
              <a:ext uri="{FF2B5EF4-FFF2-40B4-BE49-F238E27FC236}">
                <a16:creationId xmlns:a16="http://schemas.microsoft.com/office/drawing/2014/main" id="{8871C78B-4C03-4B7C-BC35-9909008CBAC8}"/>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3C12827B-DE1C-4D5A-9C61-5C99A360B5CD}"/>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35ec4f4867944fe"/>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3645676-2B7F-427E-A4AE-827654CB59BA}"/>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3</a:t>
            </a:r>
          </a:p>
        </p:txBody>
      </p:sp>
      <p:sp>
        <p:nvSpPr>
          <p:cNvPr id="7" name="">
            <a:extLst xmlns:a="http://schemas.openxmlformats.org/drawingml/2006/main">
              <a:ext uri="{FF2B5EF4-FFF2-40B4-BE49-F238E27FC236}">
                <a16:creationId xmlns:a16="http://schemas.microsoft.com/office/drawing/2014/main" id="{178667C0-78A8-4B21-B444-F6AEF6F9C271}"/>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 [2] [3]  Sources and calculation details in speaker notes.</a:t>
            </a:r>
          </a:p>
        </p:txBody>
      </p:sp>
      <p:graphicFrame>
        <p:nvGraphicFramePr>
          <p:cNvPr id="16" name=""/>
          <p:cNvGraphicFramePr/>
          <p:nvPr/>
        </p:nvGraphicFramePr>
        <p:xfrm>
          <a:off xmlns:a="http://schemas.openxmlformats.org/drawingml/2006/main" x="400050" y="1057275"/>
          <a:ext xmlns:a="http://schemas.openxmlformats.org/drawingml/2006/main" cx="8334375" cy="3067050"/>
        </p:xfrm>
        <a:graphic xmlns:a="http://schemas.openxmlformats.org/drawingml/2006/main">
          <a:graphicData uri="http://schemas.openxmlformats.org/drawingml/2006/table">
            <a:tbl>
              <a:tblPr/>
              <a:tblGrid>
                <a:gridCol w="2762250"/>
                <a:gridCol w="2762250"/>
                <a:gridCol w="2809875"/>
              </a:tblGrid>
              <a:tr h="766763">
                <a:tc>
                  <a:txBody>
                    <a:bodyPr/>
                    <a:lstStyle/>
                    <a:p>
                      <a:r>
                        <a:rPr sz="1500" b="1">
                          <a:solidFill>
                            <a:srgbClr val="00144D"/>
                          </a:solidFill>
                          <a:latin typeface="Arial"/>
                          <a:ea typeface="Arial"/>
                          <a:cs typeface="Arial"/>
                        </a:rPr>
                        <a:t>Previous approach</a:t>
                      </a:r>
                    </a:p>
                  </a:txBody>
                  <a:tcPr marL="85725" marR="76200" marT="38100" marB="38100" anchor="ctr">
                    <a:solidFill>
                      <a:srgbClr val="E9EEF5"/>
                    </a:solidFill>
                  </a:tcPr>
                </a:tc>
                <a:tc>
                  <a:txBody>
                    <a:bodyPr/>
                    <a:lstStyle/>
                    <a:p>
                      <a:r>
                        <a:rPr sz="1500" b="1">
                          <a:solidFill>
                            <a:srgbClr val="00144D"/>
                          </a:solidFill>
                          <a:latin typeface="Arial"/>
                          <a:ea typeface="Arial"/>
                          <a:cs typeface="Arial"/>
                        </a:rPr>
                        <a:t>Evidence</a:t>
                      </a:r>
                    </a:p>
                  </a:txBody>
                  <a:tcPr marL="85725" marR="76200" marT="38100" marB="38100" anchor="ctr">
                    <a:solidFill>
                      <a:srgbClr val="E9EEF5"/>
                    </a:solidFill>
                  </a:tcPr>
                </a:tc>
                <a:tc>
                  <a:txBody>
                    <a:bodyPr/>
                    <a:lstStyle/>
                    <a:p>
                      <a:r>
                        <a:rPr sz="1500" b="1">
                          <a:solidFill>
                            <a:srgbClr val="00144D"/>
                          </a:solidFill>
                          <a:latin typeface="Arial"/>
                          <a:ea typeface="Arial"/>
                          <a:cs typeface="Arial"/>
                        </a:rPr>
                        <a:t>Use in this project</a:t>
                      </a:r>
                    </a:p>
                  </a:txBody>
                  <a:tcPr marL="85725" marR="76200" marT="38100" marB="38100" anchor="ctr">
                    <a:solidFill>
                      <a:srgbClr val="E9EEF5"/>
                    </a:solidFill>
                  </a:tcPr>
                </a:tc>
              </a:tr>
              <a:tr h="766763">
                <a:tc>
                  <a:txBody>
                    <a:bodyPr/>
                    <a:lstStyle/>
                    <a:p>
                      <a:r>
                        <a:rPr sz="1500">
                          <a:solidFill>
                            <a:srgbClr val="242B35"/>
                          </a:solidFill>
                          <a:latin typeface="Arial"/>
                          <a:ea typeface="Arial"/>
                          <a:cs typeface="Arial"/>
                        </a:rPr>
                        <a:t>[1] Patterned branch orifices</a:t>
                      </a:r>
                    </a:p>
                    <a:p>
                      <a:r>
                        <a:rPr sz="1500">
                          <a:solidFill>
                            <a:srgbClr val="242B35"/>
                          </a:solidFill>
                          <a:latin typeface="Arial"/>
                          <a:ea typeface="Arial"/>
                          <a:cs typeface="Arial"/>
                        </a:rPr>
                        <a:t>Sogunuru et al., 2020</a:t>
                      </a:r>
                    </a:p>
                  </a:txBody>
                  <a:tcPr marL="85725" marR="76200" marT="38100" marB="38100" anchor="ctr">
                    <a:solidFill>
                      <a:srgbClr val="FFFFFF"/>
                    </a:solidFill>
                  </a:tcPr>
                </a:tc>
                <a:tc>
                  <a:txBody>
                    <a:bodyPr/>
                    <a:lstStyle/>
                    <a:p>
                      <a:r>
                        <a:rPr sz="1500">
                          <a:solidFill>
                            <a:srgbClr val="242B35"/>
                          </a:solidFill>
                          <a:latin typeface="Arial"/>
                          <a:ea typeface="Arial"/>
                          <a:cs typeface="Arial"/>
                        </a:rPr>
                        <a:t>Electronics cooling with unequal flow targets</a:t>
                      </a:r>
                    </a:p>
                  </a:txBody>
                  <a:tcPr marL="85725" marR="76200" marT="38100" marB="38100" anchor="ctr">
                    <a:solidFill>
                      <a:srgbClr val="FFFFFF"/>
                    </a:solidFill>
                  </a:tcPr>
                </a:tc>
                <a:tc>
                  <a:txBody>
                    <a:bodyPr/>
                    <a:lstStyle/>
                    <a:p>
                      <a:r>
                        <a:rPr sz="1500">
                          <a:solidFill>
                            <a:srgbClr val="242B35"/>
                          </a:solidFill>
                          <a:latin typeface="Arial"/>
                          <a:ea typeface="Arial"/>
                          <a:cs typeface="Arial"/>
                        </a:rPr>
                        <a:t>Selected baseline: tune branch resistance to heat load</a:t>
                      </a:r>
                    </a:p>
                  </a:txBody>
                  <a:tcPr marL="85725" marR="76200" marT="38100" marB="38100" anchor="ctr">
                    <a:solidFill>
                      <a:srgbClr val="FFFFFF"/>
                    </a:solidFill>
                  </a:tcPr>
                </a:tc>
              </a:tr>
              <a:tr h="766763">
                <a:tc>
                  <a:txBody>
                    <a:bodyPr/>
                    <a:lstStyle/>
                    <a:p>
                      <a:r>
                        <a:rPr sz="1500">
                          <a:solidFill>
                            <a:srgbClr val="242B35"/>
                          </a:solidFill>
                          <a:latin typeface="Arial"/>
                          <a:ea typeface="Arial"/>
                          <a:cs typeface="Arial"/>
                        </a:rPr>
                        <a:t>[2] Tapered header</a:t>
                      </a:r>
                    </a:p>
                    <a:p>
                      <a:r>
                        <a:rPr sz="1500">
                          <a:solidFill>
                            <a:srgbClr val="242B35"/>
                          </a:solidFill>
                          <a:latin typeface="Arial"/>
                          <a:ea typeface="Arial"/>
                          <a:cs typeface="Arial"/>
                        </a:rPr>
                        <a:t>Hassan et al., 2014</a:t>
                      </a:r>
                    </a:p>
                  </a:txBody>
                  <a:tcPr marL="85725" marR="76200" marT="38100" marB="38100" anchor="ctr">
                    <a:solidFill>
                      <a:srgbClr val="F5F6F8"/>
                    </a:solidFill>
                  </a:tcPr>
                </a:tc>
                <a:tc>
                  <a:txBody>
                    <a:bodyPr/>
                    <a:lstStyle/>
                    <a:p>
                      <a:r>
                        <a:rPr sz="1500">
                          <a:solidFill>
                            <a:srgbClr val="242B35"/>
                          </a:solidFill>
                          <a:latin typeface="Arial"/>
                          <a:ea typeface="Arial"/>
                          <a:cs typeface="Arial"/>
                        </a:rPr>
                        <a:t>At Re = 150,000, reported Φ falls from 0.0345 to 0.0140</a:t>
                      </a:r>
                    </a:p>
                  </a:txBody>
                  <a:tcPr marL="85725" marR="76200" marT="38100" marB="38100" anchor="ctr">
                    <a:solidFill>
                      <a:srgbClr val="F5F6F8"/>
                    </a:solidFill>
                  </a:tcPr>
                </a:tc>
                <a:tc>
                  <a:txBody>
                    <a:bodyPr/>
                    <a:lstStyle/>
                    <a:p>
                      <a:r>
                        <a:rPr sz="1500">
                          <a:solidFill>
                            <a:srgbClr val="242B35"/>
                          </a:solidFill>
                          <a:latin typeface="Arial"/>
                          <a:ea typeface="Arial"/>
                          <a:cs typeface="Arial"/>
                        </a:rPr>
                        <a:t>Compare header taper against added restrictions</a:t>
                      </a:r>
                    </a:p>
                  </a:txBody>
                  <a:tcPr marL="85725" marR="76200" marT="38100" marB="38100" anchor="ctr">
                    <a:solidFill>
                      <a:srgbClr val="F5F6F8"/>
                    </a:solidFill>
                  </a:tcPr>
                </a:tc>
              </a:tr>
              <a:tr h="766763">
                <a:tc>
                  <a:txBody>
                    <a:bodyPr/>
                    <a:lstStyle/>
                    <a:p>
                      <a:r>
                        <a:rPr sz="1500">
                          <a:solidFill>
                            <a:srgbClr val="242B35"/>
                          </a:solidFill>
                          <a:latin typeface="Arial"/>
                          <a:ea typeface="Arial"/>
                          <a:cs typeface="Arial"/>
                        </a:rPr>
                        <a:t>[3] Header shape and inlet</a:t>
                      </a:r>
                    </a:p>
                    <a:p>
                      <a:r>
                        <a:rPr sz="1500">
                          <a:solidFill>
                            <a:srgbClr val="242B35"/>
                          </a:solidFill>
                          <a:latin typeface="Arial"/>
                          <a:ea typeface="Arial"/>
                          <a:cs typeface="Arial"/>
                        </a:rPr>
                        <a:t>Anbumeenakshi &amp; Thansekhar, 2016</a:t>
                      </a:r>
                    </a:p>
                  </a:txBody>
                  <a:tcPr marL="85725" marR="76200" marT="38100" marB="38100" anchor="ctr">
                    <a:solidFill>
                      <a:srgbClr val="FFFFFF"/>
                    </a:solidFill>
                  </a:tcPr>
                </a:tc>
                <a:tc>
                  <a:txBody>
                    <a:bodyPr/>
                    <a:lstStyle/>
                    <a:p>
                      <a:r>
                        <a:rPr sz="1500">
                          <a:solidFill>
                            <a:srgbClr val="242B35"/>
                          </a:solidFill>
                          <a:latin typeface="Arial"/>
                          <a:ea typeface="Arial"/>
                          <a:cs typeface="Arial"/>
                        </a:rPr>
                        <a:t>25 water microchannels; best shape depends on flow rate</a:t>
                      </a:r>
                    </a:p>
                  </a:txBody>
                  <a:tcPr marL="85725" marR="76200" marT="38100" marB="38100" anchor="ctr">
                    <a:solidFill>
                      <a:srgbClr val="FFFFFF"/>
                    </a:solidFill>
                  </a:tcPr>
                </a:tc>
                <a:tc>
                  <a:txBody>
                    <a:bodyPr/>
                    <a:lstStyle/>
                    <a:p>
                      <a:r>
                        <a:rPr sz="1500">
                          <a:solidFill>
                            <a:srgbClr val="242B35"/>
                          </a:solidFill>
                          <a:latin typeface="Arial"/>
                          <a:ea typeface="Arial"/>
                          <a:cs typeface="Arial"/>
                        </a:rPr>
                        <a:t>Test operating range before selecting geometry</a:t>
                      </a:r>
                    </a:p>
                  </a:txBody>
                  <a:tcPr marL="85725" marR="76200" marT="38100" marB="38100" anchor="ctr">
                    <a:solidFill>
                      <a:srgbClr val="FFFFFF"/>
                    </a:solidFill>
                  </a:tcPr>
                </a:tc>
              </a:tr>
            </a:tbl>
          </a:graphicData>
        </a:graphic>
      </p:graphicFrame>
    </p:spTree>
    <p:extLst>
      <p:ext uri="{BB962C8B-B14F-4D97-AF65-F5344CB8AC3E}">
        <p14:creationId xmlns:p14="http://schemas.microsoft.com/office/powerpoint/2010/main" val="163573006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c6e5420a8ea44d5"/>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5A05F1F-3BB8-4A45-8EE3-8D7081459FE7}"/>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Selected Baseline: Patterned Orifice Sizing</a:t>
            </a:r>
          </a:p>
        </p:txBody>
      </p:sp>
      <p:sp>
        <p:nvSpPr>
          <p:cNvPr id="3" name="">
            <a:extLst xmlns:a="http://schemas.openxmlformats.org/drawingml/2006/main">
              <a:ext uri="{FF2B5EF4-FFF2-40B4-BE49-F238E27FC236}">
                <a16:creationId xmlns:a16="http://schemas.microsoft.com/office/drawing/2014/main" id="{0C4D3559-61FB-41BE-A794-4510A485A260}"/>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95229F45-D810-4FD3-A9BE-8DD2D1E11FEC}"/>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ffaf3cada634fb5"/>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73F1E22-3ED7-4C57-8961-1228C4B6B3D2}"/>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4</a:t>
            </a:r>
          </a:p>
        </p:txBody>
      </p:sp>
      <p:sp>
        <p:nvSpPr>
          <p:cNvPr id="7" name="">
            <a:extLst xmlns:a="http://schemas.openxmlformats.org/drawingml/2006/main">
              <a:ext uri="{FF2B5EF4-FFF2-40B4-BE49-F238E27FC236}">
                <a16:creationId xmlns:a16="http://schemas.microsoft.com/office/drawing/2014/main" id="{3E020019-657A-4C5F-868D-B3E688312120}"/>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 [7]  Sources and calculation details in speaker notes.</a:t>
            </a:r>
          </a:p>
        </p:txBody>
      </p:sp>
      <p:graphicFrame>
        <p:nvGraphicFramePr>
          <p:cNvPr id="21" name=""/>
          <p:cNvGraphicFramePr/>
          <p:nvPr/>
        </p:nvGraphicFramePr>
        <p:xfrm>
          <a:off xmlns:a="http://schemas.openxmlformats.org/drawingml/2006/main" x="400050" y="1066800"/>
          <a:ext xmlns:a="http://schemas.openxmlformats.org/drawingml/2006/main" cx="4648200" cy="2657475"/>
        </p:xfrm>
        <a:graphic xmlns:a="http://schemas.openxmlformats.org/drawingml/2006/main">
          <a:graphicData uri="http://schemas.openxmlformats.org/drawingml/2006/table">
            <a:tbl>
              <a:tblPr/>
              <a:tblGrid>
                <a:gridCol w="2038350"/>
                <a:gridCol w="2609850"/>
              </a:tblGrid>
              <a:tr h="531495">
                <a:tc>
                  <a:txBody>
                    <a:bodyPr/>
                    <a:lstStyle/>
                    <a:p>
                      <a:r>
                        <a:rPr sz="1500" b="1">
                          <a:solidFill>
                            <a:srgbClr val="00144D"/>
                          </a:solidFill>
                          <a:latin typeface="Arial"/>
                          <a:ea typeface="Arial"/>
                          <a:cs typeface="Arial"/>
                        </a:rPr>
                        <a:t>Published setup [1]</a:t>
                      </a:r>
                    </a:p>
                  </a:txBody>
                  <a:tcPr marL="85725" marR="76200" marT="38100" marB="38100" anchor="ctr">
                    <a:solidFill>
                      <a:srgbClr val="E9EEF5"/>
                    </a:solidFill>
                  </a:tcPr>
                </a:tc>
                <a:tc>
                  <a:txBody>
                    <a:bodyPr/>
                    <a:lstStyle/>
                    <a:p>
                      <a:r>
                        <a:rPr sz="1500" b="1">
                          <a:solidFill>
                            <a:srgbClr val="00144D"/>
                          </a:solidFill>
                          <a:latin typeface="Arial"/>
                          <a:ea typeface="Arial"/>
                          <a:cs typeface="Arial"/>
                        </a:rPr>
                        <a:t>Value</a:t>
                      </a:r>
                    </a:p>
                  </a:txBody>
                  <a:tcPr marL="85725" marR="76200" marT="38100" marB="38100" anchor="ctr">
                    <a:solidFill>
                      <a:srgbClr val="E9EEF5"/>
                    </a:solidFill>
                  </a:tcPr>
                </a:tc>
              </a:tr>
              <a:tr h="531495">
                <a:tc>
                  <a:txBody>
                    <a:bodyPr/>
                    <a:lstStyle/>
                    <a:p>
                      <a:r>
                        <a:rPr sz="1500">
                          <a:solidFill>
                            <a:srgbClr val="242B35"/>
                          </a:solidFill>
                          <a:latin typeface="Arial"/>
                          <a:ea typeface="Arial"/>
                          <a:cs typeface="Arial"/>
                        </a:rPr>
                        <a:t>Configuration</a:t>
                      </a:r>
                    </a:p>
                  </a:txBody>
                  <a:tcPr marL="85725" marR="76200" marT="38100" marB="38100" anchor="ctr">
                    <a:solidFill>
                      <a:srgbClr val="FFFFFF"/>
                    </a:solidFill>
                  </a:tcPr>
                </a:tc>
                <a:tc>
                  <a:txBody>
                    <a:bodyPr/>
                    <a:lstStyle/>
                    <a:p>
                      <a:r>
                        <a:rPr sz="1500">
                          <a:solidFill>
                            <a:srgbClr val="242B35"/>
                          </a:solidFill>
                          <a:latin typeface="Arial"/>
                          <a:ea typeface="Arial"/>
                          <a:cs typeface="Arial"/>
                        </a:rPr>
                        <a:t>Z-type, water, 1 L/min total</a:t>
                      </a:r>
                    </a:p>
                  </a:txBody>
                  <a:tcPr marL="85725" marR="76200" marT="38100" marB="38100" anchor="ctr">
                    <a:solidFill>
                      <a:srgbClr val="FFFFFF"/>
                    </a:solidFill>
                  </a:tcPr>
                </a:tc>
              </a:tr>
              <a:tr h="531495">
                <a:tc>
                  <a:txBody>
                    <a:bodyPr/>
                    <a:lstStyle/>
                    <a:p>
                      <a:r>
                        <a:rPr sz="1500">
                          <a:solidFill>
                            <a:srgbClr val="242B35"/>
                          </a:solidFill>
                          <a:latin typeface="Arial"/>
                          <a:ea typeface="Arial"/>
                          <a:cs typeface="Arial"/>
                        </a:rPr>
                        <a:t>Header / branch ID</a:t>
                      </a:r>
                    </a:p>
                  </a:txBody>
                  <a:tcPr marL="85725" marR="76200" marT="38100" marB="38100" anchor="ctr">
                    <a:solidFill>
                      <a:srgbClr val="F5F6F8"/>
                    </a:solidFill>
                  </a:tcPr>
                </a:tc>
                <a:tc>
                  <a:txBody>
                    <a:bodyPr/>
                    <a:lstStyle/>
                    <a:p>
                      <a:r>
                        <a:rPr sz="1500">
                          <a:solidFill>
                            <a:srgbClr val="242B35"/>
                          </a:solidFill>
                          <a:latin typeface="Arial"/>
                          <a:ea typeface="Arial"/>
                          <a:cs typeface="Arial"/>
                        </a:rPr>
                        <a:t>12 mm / 6.5 mm</a:t>
                      </a:r>
                    </a:p>
                  </a:txBody>
                  <a:tcPr marL="85725" marR="76200" marT="38100" marB="38100" anchor="ctr">
                    <a:solidFill>
                      <a:srgbClr val="F5F6F8"/>
                    </a:solidFill>
                  </a:tcPr>
                </a:tc>
              </a:tr>
              <a:tr h="531495">
                <a:tc>
                  <a:txBody>
                    <a:bodyPr/>
                    <a:lstStyle/>
                    <a:p>
                      <a:r>
                        <a:rPr sz="1500">
                          <a:solidFill>
                            <a:srgbClr val="242B35"/>
                          </a:solidFill>
                          <a:latin typeface="Arial"/>
                          <a:ea typeface="Arial"/>
                          <a:cs typeface="Arial"/>
                        </a:rPr>
                        <a:t>Channels / length</a:t>
                      </a:r>
                    </a:p>
                  </a:txBody>
                  <a:tcPr marL="85725" marR="76200" marT="38100" marB="38100" anchor="ctr">
                    <a:solidFill>
                      <a:srgbClr val="FFFFFF"/>
                    </a:solidFill>
                  </a:tcPr>
                </a:tc>
                <a:tc>
                  <a:txBody>
                    <a:bodyPr/>
                    <a:lstStyle/>
                    <a:p>
                      <a:r>
                        <a:rPr sz="1500">
                          <a:solidFill>
                            <a:srgbClr val="242B35"/>
                          </a:solidFill>
                          <a:latin typeface="Arial"/>
                          <a:ea typeface="Arial"/>
                          <a:cs typeface="Arial"/>
                        </a:rPr>
                        <a:t>10 channels / 700 mm</a:t>
                      </a:r>
                    </a:p>
                  </a:txBody>
                  <a:tcPr marL="85725" marR="76200" marT="38100" marB="38100" anchor="ctr">
                    <a:solidFill>
                      <a:srgbClr val="FFFFFF"/>
                    </a:solidFill>
                  </a:tcPr>
                </a:tc>
              </a:tr>
              <a:tr h="531495">
                <a:tc>
                  <a:txBody>
                    <a:bodyPr/>
                    <a:lstStyle/>
                    <a:p>
                      <a:r>
                        <a:rPr sz="1500">
                          <a:solidFill>
                            <a:srgbClr val="242B35"/>
                          </a:solidFill>
                          <a:latin typeface="Arial"/>
                          <a:ea typeface="Arial"/>
                          <a:cs typeface="Arial"/>
                        </a:rPr>
                        <a:t>Pattern 1 example</a:t>
                      </a:r>
                    </a:p>
                  </a:txBody>
                  <a:tcPr marL="85725" marR="76200" marT="38100" marB="38100" anchor="ctr">
                    <a:solidFill>
                      <a:srgbClr val="F5F6F8"/>
                    </a:solidFill>
                  </a:tcPr>
                </a:tc>
                <a:tc>
                  <a:txBody>
                    <a:bodyPr/>
                    <a:lstStyle/>
                    <a:p>
                      <a:r>
                        <a:rPr sz="1500">
                          <a:solidFill>
                            <a:srgbClr val="242B35"/>
                          </a:solidFill>
                          <a:latin typeface="Arial"/>
                          <a:ea typeface="Arial"/>
                          <a:cs typeface="Arial"/>
                        </a:rPr>
                        <a:t>2.1–2.4 mm bores in branches 1, 3, 5, 7, 9</a:t>
                      </a:r>
                    </a:p>
                  </a:txBody>
                  <a:tcPr marL="85725" marR="76200" marT="38100" marB="38100" anchor="ctr">
                    <a:solidFill>
                      <a:srgbClr val="F5F6F8"/>
                    </a:solidFill>
                  </a:tcPr>
                </a:tc>
              </a:tr>
            </a:tbl>
          </a:graphicData>
        </a:graphic>
      </p:graphicFrame>
      <p:sp>
        <p:nvSpPr>
          <p:cNvPr id="9" name="">
            <a:extLst xmlns:a="http://schemas.openxmlformats.org/drawingml/2006/main">
              <a:ext uri="{FF2B5EF4-FFF2-40B4-BE49-F238E27FC236}">
                <a16:creationId xmlns:a16="http://schemas.microsoft.com/office/drawing/2014/main" id="{27012105-129F-4AB1-9E5E-8C6C653A80B5}"/>
              </a:ext>
            </a:extLst>
          </p:cNvPr>
          <p:cNvSpPr>
            <a:spLocks xmlns:a="http://schemas.openxmlformats.org/drawingml/2006/main" noGrp="1"/>
          </p:cNvSpPr>
          <p:nvPr/>
        </p:nvSpPr>
        <p:spPr>
          <a:xfrm xmlns:a="http://schemas.openxmlformats.org/drawingml/2006/main">
            <a:off x="5400675" y="10572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144D"/>
                </a:solidFill>
                <a:latin typeface="Arial"/>
                <a:ea typeface="Arial"/>
                <a:cs typeface="Arial"/>
              </a:defRPr>
            </a:pPr>
            <a:r>
              <a:rPr sz="1875" b="1">
                <a:solidFill>
                  <a:srgbClr val="00144D"/>
                </a:solidFill>
                <a:latin typeface="Arial"/>
                <a:ea typeface="Arial"/>
                <a:cs typeface="Arial"/>
              </a:rPr>
              <a:t>Why this baseline?</a:t>
            </a:r>
          </a:p>
        </p:txBody>
      </p:sp>
      <p:sp>
        <p:nvSpPr>
          <p:cNvPr id="10" name="">
            <a:extLst xmlns:a="http://schemas.openxmlformats.org/drawingml/2006/main">
              <a:ext uri="{FF2B5EF4-FFF2-40B4-BE49-F238E27FC236}">
                <a16:creationId xmlns:a16="http://schemas.microsoft.com/office/drawing/2014/main" id="{7E34A26A-0028-41C8-9190-947324E62E16}"/>
              </a:ext>
            </a:extLst>
          </p:cNvPr>
          <p:cNvSpPr>
            <a:spLocks xmlns:a="http://schemas.openxmlformats.org/drawingml/2006/main" noGrp="1"/>
          </p:cNvSpPr>
          <p:nvPr/>
        </p:nvSpPr>
        <p:spPr>
          <a:xfrm xmlns:a="http://schemas.openxmlformats.org/drawingml/2006/main">
            <a:off x="5400675" y="1485900"/>
            <a:ext cx="32575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242B35"/>
                </a:solidFill>
                <a:latin typeface="Arial"/>
                <a:ea typeface="Arial"/>
                <a:cs typeface="Arial"/>
              </a:defRPr>
            </a:pPr>
            <a:r>
              <a:rPr sz="1725" b="0">
                <a:solidFill>
                  <a:srgbClr val="242B35"/>
                </a:solidFill>
                <a:latin typeface="Arial"/>
                <a:ea typeface="Arial"/>
                <a:cs typeface="Arial"/>
              </a:rPr>
              <a:t>It directly links unequal electronics heat loads to individually sized restrictions.</a:t>
            </a:r>
          </a:p>
        </p:txBody>
      </p:sp>
      <p:sp>
        <p:nvSpPr>
          <p:cNvPr id="11" name="">
            <a:extLst xmlns:a="http://schemas.openxmlformats.org/drawingml/2006/main">
              <a:ext uri="{FF2B5EF4-FFF2-40B4-BE49-F238E27FC236}">
                <a16:creationId xmlns:a16="http://schemas.microsoft.com/office/drawing/2014/main" id="{54EAB991-B8B4-4678-A53F-1A8BEC75FBA8}"/>
              </a:ext>
            </a:extLst>
          </p:cNvPr>
          <p:cNvSpPr>
            <a:spLocks xmlns:a="http://schemas.openxmlformats.org/drawingml/2006/main" noGrp="1"/>
          </p:cNvSpPr>
          <p:nvPr/>
        </p:nvSpPr>
        <p:spPr>
          <a:xfrm xmlns:a="http://schemas.openxmlformats.org/drawingml/2006/main">
            <a:off x="5400675" y="2562225"/>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144D"/>
                </a:solidFill>
                <a:latin typeface="Arial"/>
                <a:ea typeface="Arial"/>
                <a:cs typeface="Arial"/>
              </a:defRPr>
            </a:pPr>
            <a:r>
              <a:rPr sz="1875" b="1">
                <a:solidFill>
                  <a:srgbClr val="00144D"/>
                </a:solidFill>
                <a:latin typeface="Arial"/>
                <a:ea typeface="Arial"/>
                <a:cs typeface="Arial"/>
              </a:rPr>
              <a:t>Our extension</a:t>
            </a:r>
          </a:p>
        </p:txBody>
      </p:sp>
      <p:sp>
        <p:nvSpPr>
          <p:cNvPr id="12" name="">
            <a:extLst xmlns:a="http://schemas.openxmlformats.org/drawingml/2006/main">
              <a:ext uri="{FF2B5EF4-FFF2-40B4-BE49-F238E27FC236}">
                <a16:creationId xmlns:a16="http://schemas.microsoft.com/office/drawing/2014/main" id="{015F94F7-8A46-42A7-A533-B5290EF78BCD}"/>
              </a:ext>
            </a:extLst>
          </p:cNvPr>
          <p:cNvSpPr>
            <a:spLocks xmlns:a="http://schemas.openxmlformats.org/drawingml/2006/main" noGrp="1"/>
          </p:cNvSpPr>
          <p:nvPr/>
        </p:nvSpPr>
        <p:spPr>
          <a:xfrm xmlns:a="http://schemas.openxmlformats.org/drawingml/2006/main">
            <a:off x="5400675" y="2981325"/>
            <a:ext cx="3286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Couple 27 tray branches to temperature-dependent properties, component losses, and CDU limits.</a:t>
            </a:r>
          </a:p>
        </p:txBody>
      </p:sp>
      <p:sp>
        <p:nvSpPr>
          <p:cNvPr id="13" name="">
            <a:extLst xmlns:a="http://schemas.openxmlformats.org/drawingml/2006/main">
              <a:ext uri="{FF2B5EF4-FFF2-40B4-BE49-F238E27FC236}">
                <a16:creationId xmlns:a16="http://schemas.microsoft.com/office/drawing/2014/main" id="{22FC9E65-3297-4063-A030-22EDBE38CD33}"/>
              </a:ext>
            </a:extLst>
          </p:cNvPr>
          <p:cNvSpPr>
            <a:spLocks xmlns:a="http://schemas.openxmlformats.org/drawingml/2006/main" noGrp="1"/>
          </p:cNvSpPr>
          <p:nvPr/>
        </p:nvSpPr>
        <p:spPr>
          <a:xfrm xmlns:a="http://schemas.openxmlformats.org/drawingml/2006/main">
            <a:off x="409575" y="4067175"/>
            <a:ext cx="8296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95001A"/>
                </a:solidFill>
                <a:latin typeface="Arial"/>
                <a:ea typeface="Arial"/>
                <a:cs typeface="Arial"/>
              </a:defRPr>
            </a:pPr>
            <a:r>
              <a:rPr sz="1350" b="0">
                <a:solidFill>
                  <a:srgbClr val="95001A"/>
                </a:solidFill>
                <a:latin typeface="Arial"/>
                <a:ea typeface="Arial"/>
                <a:cs typeface="Arial"/>
              </a:rPr>
              <a:t>Rack geometry is assumed; reproducing the literature benchmark is a future validation step.</a:t>
            </a:r>
          </a:p>
        </p:txBody>
      </p:sp>
    </p:spTree>
    <p:extLst>
      <p:ext uri="{BB962C8B-B14F-4D97-AF65-F5344CB8AC3E}">
        <p14:creationId xmlns:p14="http://schemas.microsoft.com/office/powerpoint/2010/main" val="7264430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40695d4c4fe9463a"/>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545C361-EC47-4484-94B1-61EBD0AF0BDB}"/>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Physical Changes to the Manifold</a:t>
            </a:r>
          </a:p>
        </p:txBody>
      </p:sp>
      <p:sp>
        <p:nvSpPr>
          <p:cNvPr id="3" name="">
            <a:extLst xmlns:a="http://schemas.openxmlformats.org/drawingml/2006/main">
              <a:ext uri="{FF2B5EF4-FFF2-40B4-BE49-F238E27FC236}">
                <a16:creationId xmlns:a16="http://schemas.microsoft.com/office/drawing/2014/main" id="{670A6C8A-93CF-49C5-9B57-2349F3548CB8}"/>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6E362458-317E-490A-A2E0-229F147046FC}"/>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df6ce515b4ca4c01"/>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65C5C37-85D1-4373-99DB-941C51012921}"/>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5</a:t>
            </a:r>
          </a:p>
        </p:txBody>
      </p:sp>
      <p:sp>
        <p:nvSpPr>
          <p:cNvPr id="7" name="">
            <a:extLst xmlns:a="http://schemas.openxmlformats.org/drawingml/2006/main">
              <a:ext uri="{FF2B5EF4-FFF2-40B4-BE49-F238E27FC236}">
                <a16:creationId xmlns:a16="http://schemas.microsoft.com/office/drawing/2014/main" id="{2929A480-FF84-4CAB-81A5-38D9E901811B}"/>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 [7]  Sources and calculation details in speaker notes.</a:t>
            </a:r>
          </a:p>
        </p:txBody>
      </p:sp>
      <p:sp>
        <p:nvSpPr>
          <p:cNvPr id="8" name="">
            <a:extLst xmlns:a="http://schemas.openxmlformats.org/drawingml/2006/main">
              <a:ext uri="{FF2B5EF4-FFF2-40B4-BE49-F238E27FC236}">
                <a16:creationId xmlns:a16="http://schemas.microsoft.com/office/drawing/2014/main" id="{6B76FC1D-5BE5-46C3-8146-97BC48D94E1B}"/>
              </a:ext>
            </a:extLst>
          </p:cNvPr>
          <p:cNvSpPr>
            <a:spLocks xmlns:a="http://schemas.openxmlformats.org/drawingml/2006/main" noGrp="1"/>
          </p:cNvSpPr>
          <p:nvPr/>
        </p:nvSpPr>
        <p:spPr>
          <a:xfrm xmlns:a="http://schemas.openxmlformats.org/drawingml/2006/main">
            <a:off x="600075" y="1666875"/>
            <a:ext cx="156020" cy="1906905"/>
          </a:xfrm>
          <a:prstGeom xmlns:a="http://schemas.openxmlformats.org/drawingml/2006/main" prst="rect">
            <a:avLst/>
          </a:prstGeom>
          <a:solidFill xmlns:a="http://schemas.openxmlformats.org/drawingml/2006/main">
            <a:srgbClr val="DCECF7"/>
          </a:solidFill>
          <a:ln xmlns:a="http://schemas.openxmlformats.org/drawingml/2006/main" w="19050">
            <a:solidFill>
              <a:srgbClr val="3979AB"/>
            </a:solidFill>
          </a:ln>
        </p:spPr>
      </p:sp>
      <p:sp>
        <p:nvSpPr>
          <p:cNvPr id="9" name="">
            <a:extLst xmlns:a="http://schemas.openxmlformats.org/drawingml/2006/main">
              <a:ext uri="{FF2B5EF4-FFF2-40B4-BE49-F238E27FC236}">
                <a16:creationId xmlns:a16="http://schemas.microsoft.com/office/drawing/2014/main" id="{ABF045A0-0E72-4129-8B61-B8AAFA302B9A}"/>
              </a:ext>
            </a:extLst>
          </p:cNvPr>
          <p:cNvSpPr>
            <a:spLocks xmlns:a="http://schemas.openxmlformats.org/drawingml/2006/main" noGrp="1"/>
          </p:cNvSpPr>
          <p:nvPr/>
        </p:nvSpPr>
        <p:spPr>
          <a:xfrm xmlns:a="http://schemas.openxmlformats.org/drawingml/2006/main">
            <a:off x="3070384" y="1666875"/>
            <a:ext cx="156020" cy="1906905"/>
          </a:xfrm>
          <a:prstGeom xmlns:a="http://schemas.openxmlformats.org/drawingml/2006/main" prst="rect">
            <a:avLst/>
          </a:prstGeom>
          <a:solidFill xmlns:a="http://schemas.openxmlformats.org/drawingml/2006/main">
            <a:srgbClr val="F6DFDF"/>
          </a:solidFill>
          <a:ln xmlns:a="http://schemas.openxmlformats.org/drawingml/2006/main" w="19050">
            <a:solidFill>
              <a:srgbClr val="B84145"/>
            </a:solidFill>
          </a:ln>
        </p:spPr>
      </p:sp>
      <p:sp>
        <p:nvSpPr>
          <p:cNvPr id="10" name="">
            <a:extLst xmlns:a="http://schemas.openxmlformats.org/drawingml/2006/main">
              <a:ext uri="{FF2B5EF4-FFF2-40B4-BE49-F238E27FC236}">
                <a16:creationId xmlns:a16="http://schemas.microsoft.com/office/drawing/2014/main" id="{AC7F6890-21F8-490C-B92B-E68EC573C4F6}"/>
              </a:ext>
            </a:extLst>
          </p:cNvPr>
          <p:cNvSpPr>
            <a:spLocks xmlns:a="http://schemas.openxmlformats.org/drawingml/2006/main" noGrp="1"/>
          </p:cNvSpPr>
          <p:nvPr/>
        </p:nvSpPr>
        <p:spPr>
          <a:xfrm xmlns:a="http://schemas.openxmlformats.org/drawingml/2006/main">
            <a:off x="756095" y="2074259"/>
            <a:ext cx="231428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11" name="">
            <a:extLst xmlns:a="http://schemas.openxmlformats.org/drawingml/2006/main">
              <a:ext uri="{FF2B5EF4-FFF2-40B4-BE49-F238E27FC236}">
                <a16:creationId xmlns:a16="http://schemas.microsoft.com/office/drawing/2014/main" id="{9E4D6559-A5F0-4D1A-82EE-878F77B70F27}"/>
              </a:ext>
            </a:extLst>
          </p:cNvPr>
          <p:cNvSpPr>
            <a:spLocks xmlns:a="http://schemas.openxmlformats.org/drawingml/2006/main" noGrp="1"/>
          </p:cNvSpPr>
          <p:nvPr/>
        </p:nvSpPr>
        <p:spPr>
          <a:xfrm xmlns:a="http://schemas.openxmlformats.org/drawingml/2006/main">
            <a:off x="1423511" y="1926908"/>
            <a:ext cx="1170146" cy="294704"/>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12" name="">
            <a:extLst xmlns:a="http://schemas.openxmlformats.org/drawingml/2006/main">
              <a:ext uri="{FF2B5EF4-FFF2-40B4-BE49-F238E27FC236}">
                <a16:creationId xmlns:a16="http://schemas.microsoft.com/office/drawing/2014/main" id="{0674D9E0-FFC5-4FEB-9A27-2A4379A14865}"/>
              </a:ext>
            </a:extLst>
          </p:cNvPr>
          <p:cNvSpPr>
            <a:spLocks xmlns:a="http://schemas.openxmlformats.org/drawingml/2006/main" noGrp="1"/>
          </p:cNvSpPr>
          <p:nvPr/>
        </p:nvSpPr>
        <p:spPr>
          <a:xfrm xmlns:a="http://schemas.openxmlformats.org/drawingml/2006/main">
            <a:off x="1501521" y="1961579"/>
            <a:ext cx="1083469" cy="2166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28" b="0">
                <a:solidFill>
                  <a:srgbClr val="242B35"/>
                </a:solidFill>
                <a:latin typeface="Arial"/>
                <a:ea typeface="Arial"/>
                <a:cs typeface="Arial"/>
              </a:defRPr>
            </a:pPr>
            <a:r>
              <a:rPr sz="1228" b="0">
                <a:solidFill>
                  <a:srgbClr val="242B35"/>
                </a:solidFill>
                <a:latin typeface="Arial"/>
                <a:ea typeface="Arial"/>
                <a:cs typeface="Arial"/>
              </a:rPr>
              <a:t>Compute</a:t>
            </a:r>
          </a:p>
        </p:txBody>
      </p:sp>
      <p:sp>
        <p:nvSpPr>
          <p:cNvPr id="13" name="">
            <a:extLst xmlns:a="http://schemas.openxmlformats.org/drawingml/2006/main">
              <a:ext uri="{FF2B5EF4-FFF2-40B4-BE49-F238E27FC236}">
                <a16:creationId xmlns:a16="http://schemas.microsoft.com/office/drawing/2014/main" id="{69CACED0-81D8-471B-AA17-28819F9F4341}"/>
              </a:ext>
            </a:extLst>
          </p:cNvPr>
          <p:cNvSpPr>
            <a:spLocks xmlns:a="http://schemas.openxmlformats.org/drawingml/2006/main" noGrp="1"/>
          </p:cNvSpPr>
          <p:nvPr/>
        </p:nvSpPr>
        <p:spPr>
          <a:xfrm xmlns:a="http://schemas.openxmlformats.org/drawingml/2006/main">
            <a:off x="1024795" y="1987582"/>
            <a:ext cx="69342" cy="173355"/>
          </a:xfrm>
          <a:prstGeom xmlns:a="http://schemas.openxmlformats.org/drawingml/2006/main" prst="rect">
            <a:avLst/>
          </a:prstGeom>
          <a:solidFill xmlns:a="http://schemas.openxmlformats.org/drawingml/2006/main">
            <a:srgbClr val="95001A"/>
          </a:solidFill>
          <a:ln xmlns:a="http://schemas.openxmlformats.org/drawingml/2006/main" w="9525">
            <a:solidFill>
              <a:srgbClr val="95001A"/>
            </a:solidFill>
          </a:ln>
        </p:spPr>
      </p:sp>
      <p:sp>
        <p:nvSpPr>
          <p:cNvPr id="14" name="">
            <a:extLst xmlns:a="http://schemas.openxmlformats.org/drawingml/2006/main">
              <a:ext uri="{FF2B5EF4-FFF2-40B4-BE49-F238E27FC236}">
                <a16:creationId xmlns:a16="http://schemas.microsoft.com/office/drawing/2014/main" id="{826A4E63-3A77-4B6D-AAAD-A31B57CAFE37}"/>
              </a:ext>
            </a:extLst>
          </p:cNvPr>
          <p:cNvSpPr>
            <a:spLocks xmlns:a="http://schemas.openxmlformats.org/drawingml/2006/main" noGrp="1"/>
          </p:cNvSpPr>
          <p:nvPr/>
        </p:nvSpPr>
        <p:spPr>
          <a:xfrm xmlns:a="http://schemas.openxmlformats.org/drawingml/2006/main">
            <a:off x="894779" y="1900904"/>
            <a:ext cx="346710" cy="346710"/>
          </a:xfrm>
          <a:prstGeom xmlns:a="http://schemas.openxmlformats.org/drawingml/2006/main" prst="ellipse">
            <a:avLst/>
          </a:prstGeom>
          <a:noFill xmlns:a="http://schemas.openxmlformats.org/drawingml/2006/main"/>
          <a:ln xmlns:a="http://schemas.openxmlformats.org/drawingml/2006/main" w="19050">
            <a:solidFill>
              <a:srgbClr val="95001A"/>
            </a:solidFill>
          </a:ln>
        </p:spPr>
      </p:sp>
      <p:sp>
        <p:nvSpPr>
          <p:cNvPr id="15" name="">
            <a:extLst xmlns:a="http://schemas.openxmlformats.org/drawingml/2006/main">
              <a:ext uri="{FF2B5EF4-FFF2-40B4-BE49-F238E27FC236}">
                <a16:creationId xmlns:a16="http://schemas.microsoft.com/office/drawing/2014/main" id="{03E8ACA4-984E-4FD2-9435-ECD41B07ACF7}"/>
              </a:ext>
            </a:extLst>
          </p:cNvPr>
          <p:cNvSpPr>
            <a:spLocks xmlns:a="http://schemas.openxmlformats.org/drawingml/2006/main" noGrp="1"/>
          </p:cNvSpPr>
          <p:nvPr/>
        </p:nvSpPr>
        <p:spPr>
          <a:xfrm xmlns:a="http://schemas.openxmlformats.org/drawingml/2006/main">
            <a:off x="756095" y="2646331"/>
            <a:ext cx="231428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16" name="">
            <a:extLst xmlns:a="http://schemas.openxmlformats.org/drawingml/2006/main">
              <a:ext uri="{FF2B5EF4-FFF2-40B4-BE49-F238E27FC236}">
                <a16:creationId xmlns:a16="http://schemas.microsoft.com/office/drawing/2014/main" id="{117BB912-9A2D-4840-87BC-BD0B0F5C20D6}"/>
              </a:ext>
            </a:extLst>
          </p:cNvPr>
          <p:cNvSpPr>
            <a:spLocks xmlns:a="http://schemas.openxmlformats.org/drawingml/2006/main" noGrp="1"/>
          </p:cNvSpPr>
          <p:nvPr/>
        </p:nvSpPr>
        <p:spPr>
          <a:xfrm xmlns:a="http://schemas.openxmlformats.org/drawingml/2006/main">
            <a:off x="1423511" y="2498979"/>
            <a:ext cx="1170146" cy="294704"/>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17" name="">
            <a:extLst xmlns:a="http://schemas.openxmlformats.org/drawingml/2006/main">
              <a:ext uri="{FF2B5EF4-FFF2-40B4-BE49-F238E27FC236}">
                <a16:creationId xmlns:a16="http://schemas.microsoft.com/office/drawing/2014/main" id="{421C7ACA-7E91-41E4-B416-F31D9119A8F7}"/>
              </a:ext>
            </a:extLst>
          </p:cNvPr>
          <p:cNvSpPr>
            <a:spLocks xmlns:a="http://schemas.openxmlformats.org/drawingml/2006/main" noGrp="1"/>
          </p:cNvSpPr>
          <p:nvPr/>
        </p:nvSpPr>
        <p:spPr>
          <a:xfrm xmlns:a="http://schemas.openxmlformats.org/drawingml/2006/main">
            <a:off x="1501521" y="2533650"/>
            <a:ext cx="1083469" cy="2166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28" b="0">
                <a:solidFill>
                  <a:srgbClr val="242B35"/>
                </a:solidFill>
                <a:latin typeface="Arial"/>
                <a:ea typeface="Arial"/>
                <a:cs typeface="Arial"/>
              </a:defRPr>
            </a:pPr>
            <a:r>
              <a:rPr sz="1228" b="0">
                <a:solidFill>
                  <a:srgbClr val="242B35"/>
                </a:solidFill>
                <a:latin typeface="Arial"/>
                <a:ea typeface="Arial"/>
                <a:cs typeface="Arial"/>
              </a:rPr>
              <a:t>Switch</a:t>
            </a:r>
          </a:p>
        </p:txBody>
      </p:sp>
      <p:sp>
        <p:nvSpPr>
          <p:cNvPr id="18" name="">
            <a:extLst xmlns:a="http://schemas.openxmlformats.org/drawingml/2006/main">
              <a:ext uri="{FF2B5EF4-FFF2-40B4-BE49-F238E27FC236}">
                <a16:creationId xmlns:a16="http://schemas.microsoft.com/office/drawing/2014/main" id="{8675E9EF-9B72-4036-9AAA-22A8389A298F}"/>
              </a:ext>
            </a:extLst>
          </p:cNvPr>
          <p:cNvSpPr>
            <a:spLocks xmlns:a="http://schemas.openxmlformats.org/drawingml/2006/main" noGrp="1"/>
          </p:cNvSpPr>
          <p:nvPr/>
        </p:nvSpPr>
        <p:spPr>
          <a:xfrm xmlns:a="http://schemas.openxmlformats.org/drawingml/2006/main">
            <a:off x="1024795" y="2559653"/>
            <a:ext cx="69342" cy="173355"/>
          </a:xfrm>
          <a:prstGeom xmlns:a="http://schemas.openxmlformats.org/drawingml/2006/main" prst="rect">
            <a:avLst/>
          </a:prstGeom>
          <a:solidFill xmlns:a="http://schemas.openxmlformats.org/drawingml/2006/main">
            <a:srgbClr val="95001A"/>
          </a:solidFill>
          <a:ln xmlns:a="http://schemas.openxmlformats.org/drawingml/2006/main" w="9525">
            <a:solidFill>
              <a:srgbClr val="95001A"/>
            </a:solidFill>
          </a:ln>
        </p:spPr>
      </p:sp>
      <p:sp>
        <p:nvSpPr>
          <p:cNvPr id="19" name="">
            <a:extLst xmlns:a="http://schemas.openxmlformats.org/drawingml/2006/main">
              <a:ext uri="{FF2B5EF4-FFF2-40B4-BE49-F238E27FC236}">
                <a16:creationId xmlns:a16="http://schemas.microsoft.com/office/drawing/2014/main" id="{017C1334-CE39-44FB-8A29-2C34E7D93F47}"/>
              </a:ext>
            </a:extLst>
          </p:cNvPr>
          <p:cNvSpPr>
            <a:spLocks xmlns:a="http://schemas.openxmlformats.org/drawingml/2006/main" noGrp="1"/>
          </p:cNvSpPr>
          <p:nvPr/>
        </p:nvSpPr>
        <p:spPr>
          <a:xfrm xmlns:a="http://schemas.openxmlformats.org/drawingml/2006/main">
            <a:off x="894779" y="2472976"/>
            <a:ext cx="346710" cy="346710"/>
          </a:xfrm>
          <a:prstGeom xmlns:a="http://schemas.openxmlformats.org/drawingml/2006/main" prst="ellipse">
            <a:avLst/>
          </a:prstGeom>
          <a:noFill xmlns:a="http://schemas.openxmlformats.org/drawingml/2006/main"/>
          <a:ln xmlns:a="http://schemas.openxmlformats.org/drawingml/2006/main" w="19050">
            <a:solidFill>
              <a:srgbClr val="95001A"/>
            </a:solidFill>
          </a:ln>
        </p:spPr>
      </p:sp>
      <p:sp>
        <p:nvSpPr>
          <p:cNvPr id="20" name="">
            <a:extLst xmlns:a="http://schemas.openxmlformats.org/drawingml/2006/main">
              <a:ext uri="{FF2B5EF4-FFF2-40B4-BE49-F238E27FC236}">
                <a16:creationId xmlns:a16="http://schemas.microsoft.com/office/drawing/2014/main" id="{C8E505AE-CE1D-44FF-BDC4-6D0CBA6146C2}"/>
              </a:ext>
            </a:extLst>
          </p:cNvPr>
          <p:cNvSpPr>
            <a:spLocks xmlns:a="http://schemas.openxmlformats.org/drawingml/2006/main" noGrp="1"/>
          </p:cNvSpPr>
          <p:nvPr/>
        </p:nvSpPr>
        <p:spPr>
          <a:xfrm xmlns:a="http://schemas.openxmlformats.org/drawingml/2006/main">
            <a:off x="756095" y="3218402"/>
            <a:ext cx="2314289" cy="0"/>
          </a:xfrm>
          <a:prstGeom xmlns:a="http://schemas.openxmlformats.org/drawingml/2006/main" prst="line">
            <a:avLst/>
          </a:prstGeom>
          <a:noFill xmlns:a="http://schemas.openxmlformats.org/drawingml/2006/main"/>
          <a:ln xmlns:a="http://schemas.openxmlformats.org/drawingml/2006/main" w="28575">
            <a:solidFill>
              <a:srgbClr val="596773"/>
            </a:solidFill>
          </a:ln>
        </p:spPr>
      </p:sp>
      <p:sp>
        <p:nvSpPr>
          <p:cNvPr id="21" name="">
            <a:extLst xmlns:a="http://schemas.openxmlformats.org/drawingml/2006/main">
              <a:ext uri="{FF2B5EF4-FFF2-40B4-BE49-F238E27FC236}">
                <a16:creationId xmlns:a16="http://schemas.microsoft.com/office/drawing/2014/main" id="{57F01C7B-3C94-48B7-93DF-69C479042487}"/>
              </a:ext>
            </a:extLst>
          </p:cNvPr>
          <p:cNvSpPr>
            <a:spLocks xmlns:a="http://schemas.openxmlformats.org/drawingml/2006/main" noGrp="1"/>
          </p:cNvSpPr>
          <p:nvPr/>
        </p:nvSpPr>
        <p:spPr>
          <a:xfrm xmlns:a="http://schemas.openxmlformats.org/drawingml/2006/main">
            <a:off x="1423511" y="3071051"/>
            <a:ext cx="1170146" cy="294704"/>
          </a:xfrm>
          <a:prstGeom xmlns:a="http://schemas.openxmlformats.org/drawingml/2006/main" prst="rect">
            <a:avLst/>
          </a:prstGeom>
          <a:solidFill xmlns:a="http://schemas.openxmlformats.org/drawingml/2006/main">
            <a:srgbClr val="FFFFFF"/>
          </a:solidFill>
          <a:ln xmlns:a="http://schemas.openxmlformats.org/drawingml/2006/main" w="11430">
            <a:solidFill>
              <a:srgbClr val="596773"/>
            </a:solidFill>
          </a:ln>
        </p:spPr>
      </p:sp>
      <p:sp>
        <p:nvSpPr>
          <p:cNvPr id="22" name="">
            <a:extLst xmlns:a="http://schemas.openxmlformats.org/drawingml/2006/main">
              <a:ext uri="{FF2B5EF4-FFF2-40B4-BE49-F238E27FC236}">
                <a16:creationId xmlns:a16="http://schemas.microsoft.com/office/drawing/2014/main" id="{44423543-2D74-432D-8777-56B04AD0B150}"/>
              </a:ext>
            </a:extLst>
          </p:cNvPr>
          <p:cNvSpPr>
            <a:spLocks xmlns:a="http://schemas.openxmlformats.org/drawingml/2006/main" noGrp="1"/>
          </p:cNvSpPr>
          <p:nvPr/>
        </p:nvSpPr>
        <p:spPr>
          <a:xfrm xmlns:a="http://schemas.openxmlformats.org/drawingml/2006/main">
            <a:off x="1501521" y="3105722"/>
            <a:ext cx="1083469" cy="2166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28" b="0">
                <a:solidFill>
                  <a:srgbClr val="242B35"/>
                </a:solidFill>
                <a:latin typeface="Arial"/>
                <a:ea typeface="Arial"/>
                <a:cs typeface="Arial"/>
              </a:defRPr>
            </a:pPr>
            <a:r>
              <a:rPr sz="1228" b="0">
                <a:solidFill>
                  <a:srgbClr val="242B35"/>
                </a:solidFill>
                <a:latin typeface="Arial"/>
                <a:ea typeface="Arial"/>
                <a:cs typeface="Arial"/>
              </a:rPr>
              <a:t>Compute</a:t>
            </a:r>
          </a:p>
        </p:txBody>
      </p:sp>
      <p:sp>
        <p:nvSpPr>
          <p:cNvPr id="23" name="">
            <a:extLst xmlns:a="http://schemas.openxmlformats.org/drawingml/2006/main">
              <a:ext uri="{FF2B5EF4-FFF2-40B4-BE49-F238E27FC236}">
                <a16:creationId xmlns:a16="http://schemas.microsoft.com/office/drawing/2014/main" id="{6BAB0F02-5560-47BF-B4EE-70D5EE789F72}"/>
              </a:ext>
            </a:extLst>
          </p:cNvPr>
          <p:cNvSpPr>
            <a:spLocks xmlns:a="http://schemas.openxmlformats.org/drawingml/2006/main" noGrp="1"/>
          </p:cNvSpPr>
          <p:nvPr/>
        </p:nvSpPr>
        <p:spPr>
          <a:xfrm xmlns:a="http://schemas.openxmlformats.org/drawingml/2006/main">
            <a:off x="1024795" y="3131725"/>
            <a:ext cx="69342" cy="173355"/>
          </a:xfrm>
          <a:prstGeom xmlns:a="http://schemas.openxmlformats.org/drawingml/2006/main" prst="rect">
            <a:avLst/>
          </a:prstGeom>
          <a:solidFill xmlns:a="http://schemas.openxmlformats.org/drawingml/2006/main">
            <a:srgbClr val="95001A"/>
          </a:solidFill>
          <a:ln xmlns:a="http://schemas.openxmlformats.org/drawingml/2006/main" w="9525">
            <a:solidFill>
              <a:srgbClr val="95001A"/>
            </a:solidFill>
          </a:ln>
        </p:spPr>
      </p:sp>
      <p:sp>
        <p:nvSpPr>
          <p:cNvPr id="24" name="">
            <a:extLst xmlns:a="http://schemas.openxmlformats.org/drawingml/2006/main">
              <a:ext uri="{FF2B5EF4-FFF2-40B4-BE49-F238E27FC236}">
                <a16:creationId xmlns:a16="http://schemas.microsoft.com/office/drawing/2014/main" id="{87A94C64-A78B-4FD2-A712-7D01FB7E46A3}"/>
              </a:ext>
            </a:extLst>
          </p:cNvPr>
          <p:cNvSpPr>
            <a:spLocks xmlns:a="http://schemas.openxmlformats.org/drawingml/2006/main" noGrp="1"/>
          </p:cNvSpPr>
          <p:nvPr/>
        </p:nvSpPr>
        <p:spPr>
          <a:xfrm xmlns:a="http://schemas.openxmlformats.org/drawingml/2006/main">
            <a:off x="894779" y="3045047"/>
            <a:ext cx="346710" cy="346710"/>
          </a:xfrm>
          <a:prstGeom xmlns:a="http://schemas.openxmlformats.org/drawingml/2006/main" prst="ellipse">
            <a:avLst/>
          </a:prstGeom>
          <a:noFill xmlns:a="http://schemas.openxmlformats.org/drawingml/2006/main"/>
          <a:ln xmlns:a="http://schemas.openxmlformats.org/drawingml/2006/main" w="19050">
            <a:solidFill>
              <a:srgbClr val="95001A"/>
            </a:solidFill>
          </a:ln>
        </p:spPr>
      </p:sp>
      <p:sp>
        <p:nvSpPr>
          <p:cNvPr id="25" name="">
            <a:extLst xmlns:a="http://schemas.openxmlformats.org/drawingml/2006/main">
              <a:ext uri="{FF2B5EF4-FFF2-40B4-BE49-F238E27FC236}">
                <a16:creationId xmlns:a16="http://schemas.microsoft.com/office/drawing/2014/main" id="{891A6EA9-8F09-4B6C-B085-70E30269C27F}"/>
              </a:ext>
            </a:extLst>
          </p:cNvPr>
          <p:cNvSpPr>
            <a:spLocks xmlns:a="http://schemas.openxmlformats.org/drawingml/2006/main" noGrp="1"/>
          </p:cNvSpPr>
          <p:nvPr/>
        </p:nvSpPr>
        <p:spPr>
          <a:xfrm xmlns:a="http://schemas.openxmlformats.org/drawingml/2006/main">
            <a:off x="522065" y="1406843"/>
            <a:ext cx="823436" cy="2166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28" b="0">
                <a:solidFill>
                  <a:srgbClr val="3979AB"/>
                </a:solidFill>
                <a:latin typeface="Arial"/>
                <a:ea typeface="Arial"/>
                <a:cs typeface="Arial"/>
              </a:defRPr>
            </a:pPr>
            <a:r>
              <a:rPr sz="1228" b="0">
                <a:solidFill>
                  <a:srgbClr val="3979AB"/>
                </a:solidFill>
                <a:latin typeface="Arial"/>
                <a:ea typeface="Arial"/>
                <a:cs typeface="Arial"/>
              </a:rPr>
              <a:t>Supply</a:t>
            </a:r>
          </a:p>
        </p:txBody>
      </p:sp>
      <p:sp>
        <p:nvSpPr>
          <p:cNvPr id="26" name="">
            <a:extLst xmlns:a="http://schemas.openxmlformats.org/drawingml/2006/main">
              <a:ext uri="{FF2B5EF4-FFF2-40B4-BE49-F238E27FC236}">
                <a16:creationId xmlns:a16="http://schemas.microsoft.com/office/drawing/2014/main" id="{A36DEE2B-C579-4EC9-8D36-232AD8635D42}"/>
              </a:ext>
            </a:extLst>
          </p:cNvPr>
          <p:cNvSpPr>
            <a:spLocks xmlns:a="http://schemas.openxmlformats.org/drawingml/2006/main" noGrp="1"/>
          </p:cNvSpPr>
          <p:nvPr/>
        </p:nvSpPr>
        <p:spPr>
          <a:xfrm xmlns:a="http://schemas.openxmlformats.org/drawingml/2006/main">
            <a:off x="2914364" y="1406843"/>
            <a:ext cx="866775" cy="2166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28" b="0">
                <a:solidFill>
                  <a:srgbClr val="B84145"/>
                </a:solidFill>
                <a:latin typeface="Arial"/>
                <a:ea typeface="Arial"/>
                <a:cs typeface="Arial"/>
              </a:defRPr>
            </a:pPr>
            <a:r>
              <a:rPr sz="1228" b="0">
                <a:solidFill>
                  <a:srgbClr val="B84145"/>
                </a:solidFill>
                <a:latin typeface="Arial"/>
                <a:ea typeface="Arial"/>
                <a:cs typeface="Arial"/>
              </a:rPr>
              <a:t>Return</a:t>
            </a:r>
          </a:p>
        </p:txBody>
      </p:sp>
      <p:sp>
        <p:nvSpPr>
          <p:cNvPr id="27" name="">
            <a:extLst xmlns:a="http://schemas.openxmlformats.org/drawingml/2006/main">
              <a:ext uri="{FF2B5EF4-FFF2-40B4-BE49-F238E27FC236}">
                <a16:creationId xmlns:a16="http://schemas.microsoft.com/office/drawing/2014/main" id="{3510BC6A-ECB3-4E72-9226-0FCA7D9CF10F}"/>
              </a:ext>
            </a:extLst>
          </p:cNvPr>
          <p:cNvSpPr>
            <a:spLocks xmlns:a="http://schemas.openxmlformats.org/drawingml/2006/main" noGrp="1"/>
          </p:cNvSpPr>
          <p:nvPr/>
        </p:nvSpPr>
        <p:spPr>
          <a:xfrm xmlns:a="http://schemas.openxmlformats.org/drawingml/2006/main">
            <a:off x="617410" y="3253073"/>
            <a:ext cx="112681" cy="225362"/>
          </a:xfrm>
          <a:prstGeom xmlns:a="http://schemas.openxmlformats.org/drawingml/2006/main" prst="upArrow">
            <a:avLst/>
          </a:prstGeom>
          <a:solidFill xmlns:a="http://schemas.openxmlformats.org/drawingml/2006/main">
            <a:srgbClr val="3979AB"/>
          </a:solidFill>
          <a:ln xmlns:a="http://schemas.openxmlformats.org/drawingml/2006/main" w="0">
            <a:solidFill>
              <a:srgbClr val="3979AB"/>
            </a:solidFill>
          </a:ln>
        </p:spPr>
      </p:sp>
      <p:sp>
        <p:nvSpPr>
          <p:cNvPr id="28" name="">
            <a:extLst xmlns:a="http://schemas.openxmlformats.org/drawingml/2006/main">
              <a:ext uri="{FF2B5EF4-FFF2-40B4-BE49-F238E27FC236}">
                <a16:creationId xmlns:a16="http://schemas.microsoft.com/office/drawing/2014/main" id="{7C3C5D2B-0D51-47A3-A8E2-25768E8453EC}"/>
              </a:ext>
            </a:extLst>
          </p:cNvPr>
          <p:cNvSpPr>
            <a:spLocks xmlns:a="http://schemas.openxmlformats.org/drawingml/2006/main" noGrp="1"/>
          </p:cNvSpPr>
          <p:nvPr/>
        </p:nvSpPr>
        <p:spPr>
          <a:xfrm xmlns:a="http://schemas.openxmlformats.org/drawingml/2006/main">
            <a:off x="3096387" y="3253073"/>
            <a:ext cx="112681" cy="225362"/>
          </a:xfrm>
          <a:prstGeom xmlns:a="http://schemas.openxmlformats.org/drawingml/2006/main" prst="downArrow">
            <a:avLst/>
          </a:prstGeom>
          <a:solidFill xmlns:a="http://schemas.openxmlformats.org/drawingml/2006/main">
            <a:srgbClr val="B84145"/>
          </a:solidFill>
          <a:ln xmlns:a="http://schemas.openxmlformats.org/drawingml/2006/main" w="0">
            <a:solidFill>
              <a:srgbClr val="B84145"/>
            </a:solidFill>
          </a:ln>
        </p:spPr>
      </p:sp>
      <p:sp>
        <p:nvSpPr>
          <p:cNvPr id="29" name="">
            <a:extLst xmlns:a="http://schemas.openxmlformats.org/drawingml/2006/main">
              <a:ext uri="{FF2B5EF4-FFF2-40B4-BE49-F238E27FC236}">
                <a16:creationId xmlns:a16="http://schemas.microsoft.com/office/drawing/2014/main" id="{EDF94B78-C778-4F86-B0BD-F128696BA921}"/>
              </a:ext>
            </a:extLst>
          </p:cNvPr>
          <p:cNvSpPr>
            <a:spLocks xmlns:a="http://schemas.openxmlformats.org/drawingml/2006/main" noGrp="1"/>
          </p:cNvSpPr>
          <p:nvPr/>
        </p:nvSpPr>
        <p:spPr>
          <a:xfrm xmlns:a="http://schemas.openxmlformats.org/drawingml/2006/main">
            <a:off x="4324350" y="1133475"/>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95001A"/>
                </a:solidFill>
                <a:latin typeface="Arial"/>
                <a:ea typeface="Arial"/>
                <a:cs typeface="Arial"/>
              </a:defRPr>
            </a:pPr>
            <a:r>
              <a:rPr sz="1875" b="1">
                <a:solidFill>
                  <a:srgbClr val="95001A"/>
                </a:solidFill>
                <a:latin typeface="Arial"/>
                <a:ea typeface="Arial"/>
                <a:cs typeface="Arial"/>
              </a:rPr>
              <a:t>Replaceable orifice inserts</a:t>
            </a:r>
          </a:p>
        </p:txBody>
      </p:sp>
      <p:sp>
        <p:nvSpPr>
          <p:cNvPr id="30" name="">
            <a:extLst xmlns:a="http://schemas.openxmlformats.org/drawingml/2006/main">
              <a:ext uri="{FF2B5EF4-FFF2-40B4-BE49-F238E27FC236}">
                <a16:creationId xmlns:a16="http://schemas.microsoft.com/office/drawing/2014/main" id="{CBC2AEDE-29EE-434B-B2F7-32BE5975FD5B}"/>
              </a:ext>
            </a:extLst>
          </p:cNvPr>
          <p:cNvSpPr>
            <a:spLocks xmlns:a="http://schemas.openxmlformats.org/drawingml/2006/main" noGrp="1"/>
          </p:cNvSpPr>
          <p:nvPr/>
        </p:nvSpPr>
        <p:spPr>
          <a:xfrm xmlns:a="http://schemas.openxmlformats.org/drawingml/2006/main">
            <a:off x="4324350" y="1524000"/>
            <a:ext cx="43148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Set compute and switch bores separately; allow a different bore at each tray.</a:t>
            </a:r>
          </a:p>
        </p:txBody>
      </p:sp>
      <p:sp>
        <p:nvSpPr>
          <p:cNvPr id="31" name="">
            <a:extLst xmlns:a="http://schemas.openxmlformats.org/drawingml/2006/main">
              <a:ext uri="{FF2B5EF4-FFF2-40B4-BE49-F238E27FC236}">
                <a16:creationId xmlns:a16="http://schemas.microsoft.com/office/drawing/2014/main" id="{7E6C7536-7FA9-4E71-BE21-DD0B2C38C4B9}"/>
              </a:ext>
            </a:extLst>
          </p:cNvPr>
          <p:cNvSpPr>
            <a:spLocks xmlns:a="http://schemas.openxmlformats.org/drawingml/2006/main" noGrp="1"/>
          </p:cNvSpPr>
          <p:nvPr/>
        </p:nvSpPr>
        <p:spPr>
          <a:xfrm xmlns:a="http://schemas.openxmlformats.org/drawingml/2006/main">
            <a:off x="1009650" y="1676400"/>
            <a:ext cx="114300" cy="209550"/>
          </a:xfrm>
          <a:prstGeom xmlns:a="http://schemas.openxmlformats.org/drawingml/2006/main" prst="downArrow">
            <a:avLst/>
          </a:prstGeom>
          <a:solidFill xmlns:a="http://schemas.openxmlformats.org/drawingml/2006/main">
            <a:srgbClr val="95001A"/>
          </a:solidFill>
          <a:ln xmlns:a="http://schemas.openxmlformats.org/drawingml/2006/main" w="0">
            <a:solidFill>
              <a:srgbClr val="95001A"/>
            </a:solidFill>
          </a:ln>
        </p:spPr>
      </p:sp>
      <p:sp>
        <p:nvSpPr>
          <p:cNvPr id="32" name="">
            <a:extLst xmlns:a="http://schemas.openxmlformats.org/drawingml/2006/main">
              <a:ext uri="{FF2B5EF4-FFF2-40B4-BE49-F238E27FC236}">
                <a16:creationId xmlns:a16="http://schemas.microsoft.com/office/drawing/2014/main" id="{93D7B6DC-A515-412B-964B-322D1EC6B69B}"/>
              </a:ext>
            </a:extLst>
          </p:cNvPr>
          <p:cNvSpPr>
            <a:spLocks xmlns:a="http://schemas.openxmlformats.org/drawingml/2006/main" noGrp="1"/>
          </p:cNvSpPr>
          <p:nvPr/>
        </p:nvSpPr>
        <p:spPr>
          <a:xfrm xmlns:a="http://schemas.openxmlformats.org/drawingml/2006/main">
            <a:off x="4324350" y="2305050"/>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144D"/>
                </a:solidFill>
                <a:latin typeface="Arial"/>
                <a:ea typeface="Arial"/>
                <a:cs typeface="Arial"/>
              </a:defRPr>
            </a:pPr>
            <a:r>
              <a:rPr sz="1875" b="1">
                <a:solidFill>
                  <a:srgbClr val="00144D"/>
                </a:solidFill>
                <a:latin typeface="Arial"/>
                <a:ea typeface="Arial"/>
                <a:cs typeface="Arial"/>
              </a:rPr>
              <a:t>Header diameter and taper</a:t>
            </a:r>
          </a:p>
        </p:txBody>
      </p:sp>
      <p:sp>
        <p:nvSpPr>
          <p:cNvPr id="33" name="">
            <a:extLst xmlns:a="http://schemas.openxmlformats.org/drawingml/2006/main">
              <a:ext uri="{FF2B5EF4-FFF2-40B4-BE49-F238E27FC236}">
                <a16:creationId xmlns:a16="http://schemas.microsoft.com/office/drawing/2014/main" id="{CC01D48C-C264-4A5B-AE6F-F8C517148D85}"/>
              </a:ext>
            </a:extLst>
          </p:cNvPr>
          <p:cNvSpPr>
            <a:spLocks xmlns:a="http://schemas.openxmlformats.org/drawingml/2006/main" noGrp="1"/>
          </p:cNvSpPr>
          <p:nvPr/>
        </p:nvSpPr>
        <p:spPr>
          <a:xfrm xmlns:a="http://schemas.openxmlformats.org/drawingml/2006/main">
            <a:off x="4324350" y="2695575"/>
            <a:ext cx="4267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Adjust the main passage to manage pressure variation along the rack.</a:t>
            </a:r>
          </a:p>
        </p:txBody>
      </p:sp>
      <p:sp>
        <p:nvSpPr>
          <p:cNvPr id="34" name="">
            <a:extLst xmlns:a="http://schemas.openxmlformats.org/drawingml/2006/main">
              <a:ext uri="{FF2B5EF4-FFF2-40B4-BE49-F238E27FC236}">
                <a16:creationId xmlns:a16="http://schemas.microsoft.com/office/drawing/2014/main" id="{74BB7B5E-F2CC-457E-936E-86B9D1DEFDED}"/>
              </a:ext>
            </a:extLst>
          </p:cNvPr>
          <p:cNvSpPr>
            <a:spLocks xmlns:a="http://schemas.openxmlformats.org/drawingml/2006/main" noGrp="1"/>
          </p:cNvSpPr>
          <p:nvPr/>
        </p:nvSpPr>
        <p:spPr>
          <a:xfrm xmlns:a="http://schemas.openxmlformats.org/drawingml/2006/main">
            <a:off x="457200" y="1638300"/>
            <a:ext cx="476250" cy="2095500"/>
          </a:xfrm>
          <a:prstGeom xmlns:a="http://schemas.openxmlformats.org/drawingml/2006/main" prst="ellipse">
            <a:avLst/>
          </a:prstGeom>
          <a:noFill xmlns:a="http://schemas.openxmlformats.org/drawingml/2006/main"/>
          <a:ln xmlns:a="http://schemas.openxmlformats.org/drawingml/2006/main" w="19050">
            <a:solidFill>
              <a:srgbClr val="95001A"/>
            </a:solidFill>
          </a:ln>
        </p:spPr>
      </p:sp>
      <p:sp>
        <p:nvSpPr>
          <p:cNvPr id="35" name="">
            <a:extLst xmlns:a="http://schemas.openxmlformats.org/drawingml/2006/main">
              <a:ext uri="{FF2B5EF4-FFF2-40B4-BE49-F238E27FC236}">
                <a16:creationId xmlns:a16="http://schemas.microsoft.com/office/drawing/2014/main" id="{3F7EBA88-AE9F-4F39-AFE7-9750EA54C488}"/>
              </a:ext>
            </a:extLst>
          </p:cNvPr>
          <p:cNvSpPr>
            <a:spLocks xmlns:a="http://schemas.openxmlformats.org/drawingml/2006/main" noGrp="1"/>
          </p:cNvSpPr>
          <p:nvPr/>
        </p:nvSpPr>
        <p:spPr>
          <a:xfrm xmlns:a="http://schemas.openxmlformats.org/drawingml/2006/main">
            <a:off x="123825" y="2886075"/>
            <a:ext cx="400050" cy="133350"/>
          </a:xfrm>
          <a:prstGeom xmlns:a="http://schemas.openxmlformats.org/drawingml/2006/main" prst="rightArrow">
            <a:avLst/>
          </a:prstGeom>
          <a:solidFill xmlns:a="http://schemas.openxmlformats.org/drawingml/2006/main">
            <a:srgbClr val="95001A"/>
          </a:solidFill>
          <a:ln xmlns:a="http://schemas.openxmlformats.org/drawingml/2006/main" w="0">
            <a:solidFill>
              <a:srgbClr val="95001A"/>
            </a:solidFill>
          </a:ln>
        </p:spPr>
      </p:sp>
      <p:sp>
        <p:nvSpPr>
          <p:cNvPr id="36" name="">
            <a:extLst xmlns:a="http://schemas.openxmlformats.org/drawingml/2006/main">
              <a:ext uri="{FF2B5EF4-FFF2-40B4-BE49-F238E27FC236}">
                <a16:creationId xmlns:a16="http://schemas.microsoft.com/office/drawing/2014/main" id="{6710B44E-D4E7-44E9-A0F0-C67850A48129}"/>
              </a:ext>
            </a:extLst>
          </p:cNvPr>
          <p:cNvSpPr>
            <a:spLocks xmlns:a="http://schemas.openxmlformats.org/drawingml/2006/main" noGrp="1"/>
          </p:cNvSpPr>
          <p:nvPr/>
        </p:nvSpPr>
        <p:spPr>
          <a:xfrm xmlns:a="http://schemas.openxmlformats.org/drawingml/2006/main">
            <a:off x="4324350" y="3495675"/>
            <a:ext cx="4352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144D"/>
                </a:solidFill>
                <a:latin typeface="Arial"/>
                <a:ea typeface="Arial"/>
                <a:cs typeface="Arial"/>
              </a:defRPr>
            </a:pPr>
            <a:r>
              <a:rPr sz="1875" b="1">
                <a:solidFill>
                  <a:srgbClr val="00144D"/>
                </a:solidFill>
                <a:latin typeface="Arial"/>
                <a:ea typeface="Arial"/>
                <a:cs typeface="Arial"/>
              </a:rPr>
              <a:t>Branch and QD passage sizes</a:t>
            </a:r>
          </a:p>
        </p:txBody>
      </p:sp>
      <p:sp>
        <p:nvSpPr>
          <p:cNvPr id="37" name="">
            <a:extLst xmlns:a="http://schemas.openxmlformats.org/drawingml/2006/main">
              <a:ext uri="{FF2B5EF4-FFF2-40B4-BE49-F238E27FC236}">
                <a16:creationId xmlns:a16="http://schemas.microsoft.com/office/drawing/2014/main" id="{41BDEDCB-7919-4F79-8FCF-EBF10FDCDB7C}"/>
              </a:ext>
            </a:extLst>
          </p:cNvPr>
          <p:cNvSpPr>
            <a:spLocks xmlns:a="http://schemas.openxmlformats.org/drawingml/2006/main" noGrp="1"/>
          </p:cNvSpPr>
          <p:nvPr/>
        </p:nvSpPr>
        <p:spPr>
          <a:xfrm xmlns:a="http://schemas.openxmlformats.org/drawingml/2006/main">
            <a:off x="4324350" y="3857625"/>
            <a:ext cx="43053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Vary flow area; verify with measured loss curves.</a:t>
            </a:r>
          </a:p>
        </p:txBody>
      </p:sp>
      <p:sp>
        <p:nvSpPr>
          <p:cNvPr id="38" name="">
            <a:extLst xmlns:a="http://schemas.openxmlformats.org/drawingml/2006/main">
              <a:ext uri="{FF2B5EF4-FFF2-40B4-BE49-F238E27FC236}">
                <a16:creationId xmlns:a16="http://schemas.microsoft.com/office/drawing/2014/main" id="{B3842ECF-D9A4-4BBD-9E03-F89F22A8421E}"/>
              </a:ext>
            </a:extLst>
          </p:cNvPr>
          <p:cNvSpPr>
            <a:spLocks xmlns:a="http://schemas.openxmlformats.org/drawingml/2006/main" noGrp="1"/>
          </p:cNvSpPr>
          <p:nvPr/>
        </p:nvSpPr>
        <p:spPr>
          <a:xfrm xmlns:a="http://schemas.openxmlformats.org/drawingml/2006/main">
            <a:off x="609600" y="4010025"/>
            <a:ext cx="3086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555555"/>
                </a:solidFill>
                <a:latin typeface="Arial"/>
                <a:ea typeface="Arial"/>
                <a:cs typeface="Arial"/>
              </a:defRPr>
            </a:pPr>
            <a:r>
              <a:rPr sz="1275" b="0">
                <a:solidFill>
                  <a:srgbClr val="555555"/>
                </a:solidFill>
                <a:latin typeface="Arial"/>
                <a:ea typeface="Arial"/>
                <a:cs typeface="Arial"/>
              </a:rPr>
              <a:t>Schematic, not to scale</a:t>
            </a:r>
          </a:p>
        </p:txBody>
      </p:sp>
    </p:spTree>
    <p:extLst>
      <p:ext uri="{BB962C8B-B14F-4D97-AF65-F5344CB8AC3E}">
        <p14:creationId xmlns:p14="http://schemas.microsoft.com/office/powerpoint/2010/main" val="1965418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c7de23428904e61"/>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EFD996A-67CB-4192-95B5-D7CD4A8B55BF}"/>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Goal and Design</a:t>
            </a:r>
          </a:p>
        </p:txBody>
      </p:sp>
      <p:sp>
        <p:nvSpPr>
          <p:cNvPr id="3" name="">
            <a:extLst xmlns:a="http://schemas.openxmlformats.org/drawingml/2006/main">
              <a:ext uri="{FF2B5EF4-FFF2-40B4-BE49-F238E27FC236}">
                <a16:creationId xmlns:a16="http://schemas.microsoft.com/office/drawing/2014/main" id="{9C81900A-BD0E-4EF7-AC84-7E3B93EFE260}"/>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3CAC9F23-6C1E-48C0-8764-223AFCD0178D}"/>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0d40214a2d04de3"/>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5989B08-39ED-41C7-8EB9-2807AC7CE39E}"/>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6</a:t>
            </a:r>
          </a:p>
        </p:txBody>
      </p:sp>
      <p:sp>
        <p:nvSpPr>
          <p:cNvPr id="7" name="">
            <a:extLst xmlns:a="http://schemas.openxmlformats.org/drawingml/2006/main">
              <a:ext uri="{FF2B5EF4-FFF2-40B4-BE49-F238E27FC236}">
                <a16:creationId xmlns:a16="http://schemas.microsoft.com/office/drawing/2014/main" id="{71E1B083-1E4B-444F-B038-3EF0F727E684}"/>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graphicFrame>
        <p:nvGraphicFramePr>
          <p:cNvPr id="16" name=""/>
          <p:cNvGraphicFramePr/>
          <p:nvPr/>
        </p:nvGraphicFramePr>
        <p:xfrm>
          <a:off xmlns:a="http://schemas.openxmlformats.org/drawingml/2006/main" x="400050" y="990600"/>
          <a:ext xmlns:a="http://schemas.openxmlformats.org/drawingml/2006/main" cx="8334375" cy="3209925"/>
        </p:xfrm>
        <a:graphic xmlns:a="http://schemas.openxmlformats.org/drawingml/2006/main">
          <a:graphicData uri="http://schemas.openxmlformats.org/drawingml/2006/table">
            <a:tbl>
              <a:tblPr/>
              <a:tblGrid>
                <a:gridCol w="2276475"/>
                <a:gridCol w="6057900"/>
              </a:tblGrid>
              <a:tr h="401241">
                <a:tc>
                  <a:txBody>
                    <a:bodyPr/>
                    <a:lstStyle/>
                    <a:p>
                      <a:r>
                        <a:rPr sz="1425" b="1">
                          <a:solidFill>
                            <a:srgbClr val="00144D"/>
                          </a:solidFill>
                          <a:latin typeface="Arial"/>
                          <a:ea typeface="Arial"/>
                          <a:cs typeface="Arial"/>
                        </a:rPr>
                        <a:t>Project item</a:t>
                      </a:r>
                    </a:p>
                  </a:txBody>
                  <a:tcPr marL="85725" marR="76200" marT="38100" marB="38100" anchor="ctr">
                    <a:solidFill>
                      <a:srgbClr val="E9EEF5"/>
                    </a:solidFill>
                  </a:tcPr>
                </a:tc>
                <a:tc>
                  <a:txBody>
                    <a:bodyPr/>
                    <a:lstStyle/>
                    <a:p>
                      <a:r>
                        <a:rPr sz="1425" b="1">
                          <a:solidFill>
                            <a:srgbClr val="00144D"/>
                          </a:solidFill>
                          <a:latin typeface="Arial"/>
                          <a:ea typeface="Arial"/>
                          <a:cs typeface="Arial"/>
                        </a:rPr>
                        <a:t>Definition</a:t>
                      </a:r>
                    </a:p>
                  </a:txBody>
                  <a:tcPr marL="85725" marR="76200" marT="38100" marB="38100" anchor="ctr">
                    <a:solidFill>
                      <a:srgbClr val="E9EEF5"/>
                    </a:solidFill>
                  </a:tcPr>
                </a:tc>
              </a:tr>
              <a:tr h="401241">
                <a:tc>
                  <a:txBody>
                    <a:bodyPr/>
                    <a:lstStyle/>
                    <a:p>
                      <a:r>
                        <a:rPr sz="1425">
                          <a:solidFill>
                            <a:srgbClr val="242B35"/>
                          </a:solidFill>
                          <a:latin typeface="Arial"/>
                          <a:ea typeface="Arial"/>
                          <a:cs typeface="Arial"/>
                        </a:rPr>
                        <a:t>Problem / project type</a:t>
                      </a:r>
                    </a:p>
                  </a:txBody>
                  <a:tcPr marL="85725" marR="76200" marT="38100" marB="38100" anchor="ctr">
                    <a:solidFill>
                      <a:srgbClr val="FFFFFF"/>
                    </a:solidFill>
                  </a:tcPr>
                </a:tc>
                <a:tc>
                  <a:txBody>
                    <a:bodyPr/>
                    <a:lstStyle/>
                    <a:p>
                      <a:r>
                        <a:rPr sz="1425">
                          <a:solidFill>
                            <a:srgbClr val="242B35"/>
                          </a:solidFill>
                          <a:latin typeface="Arial"/>
                          <a:ea typeface="Arial"/>
                          <a:cs typeface="Arial"/>
                        </a:rPr>
                        <a:t>Unequal cooling allocation / component design</a:t>
                      </a:r>
                    </a:p>
                  </a:txBody>
                  <a:tcPr marL="85725" marR="76200" marT="38100" marB="38100" anchor="ctr">
                    <a:solidFill>
                      <a:srgbClr val="FFFFFF"/>
                    </a:solidFill>
                  </a:tcPr>
                </a:tc>
              </a:tr>
              <a:tr h="401241">
                <a:tc>
                  <a:txBody>
                    <a:bodyPr/>
                    <a:lstStyle/>
                    <a:p>
                      <a:r>
                        <a:rPr sz="1425">
                          <a:solidFill>
                            <a:srgbClr val="242B35"/>
                          </a:solidFill>
                          <a:latin typeface="Arial"/>
                          <a:ea typeface="Arial"/>
                          <a:cs typeface="Arial"/>
                        </a:rPr>
                        <a:t>Primary goal</a:t>
                      </a:r>
                    </a:p>
                  </a:txBody>
                  <a:tcPr marL="85725" marR="76200" marT="38100" marB="38100" anchor="ctr">
                    <a:solidFill>
                      <a:srgbClr val="F5F6F8"/>
                    </a:solidFill>
                  </a:tcPr>
                </a:tc>
                <a:tc>
                  <a:txBody>
                    <a:bodyPr/>
                    <a:lstStyle/>
                    <a:p>
                      <a:r>
                        <a:rPr sz="1425">
                          <a:solidFill>
                            <a:srgbClr val="242B35"/>
                          </a:solidFill>
                          <a:latin typeface="Arial"/>
                          <a:ea typeface="Arial"/>
                          <a:cs typeface="Arial"/>
                        </a:rPr>
                        <a:t>Match each tray flow to its heat load</a:t>
                      </a:r>
                    </a:p>
                  </a:txBody>
                  <a:tcPr marL="85725" marR="76200" marT="38100" marB="38100" anchor="ctr">
                    <a:solidFill>
                      <a:srgbClr val="F5F6F8"/>
                    </a:solidFill>
                  </a:tcPr>
                </a:tc>
              </a:tr>
              <a:tr h="401241">
                <a:tc>
                  <a:txBody>
                    <a:bodyPr/>
                    <a:lstStyle/>
                    <a:p>
                      <a:r>
                        <a:rPr sz="1425">
                          <a:solidFill>
                            <a:srgbClr val="242B35"/>
                          </a:solidFill>
                          <a:latin typeface="Arial"/>
                          <a:ea typeface="Arial"/>
                          <a:cs typeface="Arial"/>
                        </a:rPr>
                        <a:t>Proposed target</a:t>
                      </a:r>
                    </a:p>
                  </a:txBody>
                  <a:tcPr marL="85725" marR="76200" marT="38100" marB="38100" anchor="ctr">
                    <a:solidFill>
                      <a:srgbClr val="FFFFFF"/>
                    </a:solidFill>
                  </a:tcPr>
                </a:tc>
                <a:tc>
                  <a:txBody>
                    <a:bodyPr/>
                    <a:lstStyle/>
                    <a:p>
                      <a:r>
                        <a:rPr sz="1425">
                          <a:solidFill>
                            <a:srgbClr val="242B35"/>
                          </a:solidFill>
                          <a:latin typeface="Arial"/>
                          <a:ea typeface="Arial"/>
                          <a:cs typeface="Arial"/>
                        </a:rPr>
                        <a:t>RMS flow-target error ≤ 5% at the design point</a:t>
                      </a:r>
                    </a:p>
                  </a:txBody>
                  <a:tcPr marL="85725" marR="76200" marT="38100" marB="38100" anchor="ctr">
                    <a:solidFill>
                      <a:srgbClr val="FFFFFF"/>
                    </a:solidFill>
                  </a:tcPr>
                </a:tc>
              </a:tr>
              <a:tr h="401241">
                <a:tc>
                  <a:txBody>
                    <a:bodyPr/>
                    <a:lstStyle/>
                    <a:p>
                      <a:r>
                        <a:rPr sz="1425">
                          <a:solidFill>
                            <a:srgbClr val="242B35"/>
                          </a:solidFill>
                          <a:latin typeface="Arial"/>
                          <a:ea typeface="Arial"/>
                          <a:cs typeface="Arial"/>
                        </a:rPr>
                        <a:t>Design variables</a:t>
                      </a:r>
                    </a:p>
                  </a:txBody>
                  <a:tcPr marL="85725" marR="76200" marT="38100" marB="38100" anchor="ctr">
                    <a:solidFill>
                      <a:srgbClr val="F5F6F8"/>
                    </a:solidFill>
                  </a:tcPr>
                </a:tc>
                <a:tc>
                  <a:txBody>
                    <a:bodyPr/>
                    <a:lstStyle/>
                    <a:p>
                      <a:r>
                        <a:rPr sz="1425">
                          <a:solidFill>
                            <a:srgbClr val="242B35"/>
                          </a:solidFill>
                          <a:latin typeface="Arial"/>
                          <a:ea typeface="Arial"/>
                          <a:cs typeface="Arial"/>
                        </a:rPr>
                        <a:t>Header ID/taper; compute, switch, and per-tray bores</a:t>
                      </a:r>
                    </a:p>
                  </a:txBody>
                  <a:tcPr marL="85725" marR="76200" marT="38100" marB="38100" anchor="ctr">
                    <a:solidFill>
                      <a:srgbClr val="F5F6F8"/>
                    </a:solidFill>
                  </a:tcPr>
                </a:tc>
              </a:tr>
              <a:tr h="401241">
                <a:tc>
                  <a:txBody>
                    <a:bodyPr/>
                    <a:lstStyle/>
                    <a:p>
                      <a:r>
                        <a:rPr sz="1425">
                          <a:solidFill>
                            <a:srgbClr val="242B35"/>
                          </a:solidFill>
                          <a:latin typeface="Arial"/>
                          <a:ea typeface="Arial"/>
                          <a:cs typeface="Arial"/>
                        </a:rPr>
                        <a:t>Secondary objectives</a:t>
                      </a:r>
                    </a:p>
                  </a:txBody>
                  <a:tcPr marL="85725" marR="76200" marT="38100" marB="38100" anchor="ctr">
                    <a:solidFill>
                      <a:srgbClr val="FFFFFF"/>
                    </a:solidFill>
                  </a:tcPr>
                </a:tc>
                <a:tc>
                  <a:txBody>
                    <a:bodyPr/>
                    <a:lstStyle/>
                    <a:p>
                      <a:r>
                        <a:rPr sz="1425">
                          <a:solidFill>
                            <a:srgbClr val="242B35"/>
                          </a:solidFill>
                          <a:latin typeface="Arial"/>
                          <a:ea typeface="Arial"/>
                          <a:cs typeface="Arial"/>
                        </a:rPr>
                        <a:t>Minimize outlet temperature, pump power, and header volume</a:t>
                      </a:r>
                    </a:p>
                  </a:txBody>
                  <a:tcPr marL="85725" marR="76200" marT="38100" marB="38100" anchor="ctr">
                    <a:solidFill>
                      <a:srgbClr val="FFFFFF"/>
                    </a:solidFill>
                  </a:tcPr>
                </a:tc>
              </a:tr>
              <a:tr h="401241">
                <a:tc>
                  <a:txBody>
                    <a:bodyPr/>
                    <a:lstStyle/>
                    <a:p>
                      <a:r>
                        <a:rPr sz="1425">
                          <a:solidFill>
                            <a:srgbClr val="242B35"/>
                          </a:solidFill>
                          <a:latin typeface="Arial"/>
                          <a:ea typeface="Arial"/>
                          <a:cs typeface="Arial"/>
                        </a:rPr>
                        <a:t>Study constraints</a:t>
                      </a:r>
                    </a:p>
                  </a:txBody>
                  <a:tcPr marL="85725" marR="76200" marT="38100" marB="38100" anchor="ctr">
                    <a:solidFill>
                      <a:srgbClr val="F5F6F8"/>
                    </a:solidFill>
                  </a:tcPr>
                </a:tc>
                <a:tc>
                  <a:txBody>
                    <a:bodyPr/>
                    <a:lstStyle/>
                    <a:p>
                      <a:r>
                        <a:rPr sz="1425">
                          <a:solidFill>
                            <a:srgbClr val="242B35"/>
                          </a:solidFill>
                          <a:latin typeface="Arial"/>
                          <a:ea typeface="Arial"/>
                          <a:cs typeface="Arial"/>
                        </a:rPr>
                        <a:t>Outlet ≤ 65 °C; header velocity ≤ 3 m/s; 0 &lt; bore &lt; branch ID</a:t>
                      </a:r>
                    </a:p>
                  </a:txBody>
                  <a:tcPr marL="85725" marR="76200" marT="38100" marB="38100" anchor="ctr">
                    <a:solidFill>
                      <a:srgbClr val="F5F6F8"/>
                    </a:solidFill>
                  </a:tcPr>
                </a:tc>
              </a:tr>
              <a:tr h="401241">
                <a:tc>
                  <a:txBody>
                    <a:bodyPr/>
                    <a:lstStyle/>
                    <a:p>
                      <a:r>
                        <a:rPr sz="1425">
                          <a:solidFill>
                            <a:srgbClr val="242B35"/>
                          </a:solidFill>
                          <a:latin typeface="Arial"/>
                          <a:ea typeface="Arial"/>
                          <a:cs typeface="Arial"/>
                        </a:rPr>
                        <a:t>Decision rule</a:t>
                      </a:r>
                    </a:p>
                  </a:txBody>
                  <a:tcPr marL="85725" marR="76200" marT="38100" marB="38100" anchor="ctr">
                    <a:solidFill>
                      <a:srgbClr val="FFFFFF"/>
                    </a:solidFill>
                  </a:tcPr>
                </a:tc>
                <a:tc>
                  <a:txBody>
                    <a:bodyPr/>
                    <a:lstStyle/>
                    <a:p>
                      <a:r>
                        <a:rPr sz="1425">
                          <a:solidFill>
                            <a:srgbClr val="242B35"/>
                          </a:solidFill>
                          <a:latin typeface="Arial"/>
                          <a:ea typeface="Arial"/>
                          <a:cs typeface="Arial"/>
                        </a:rPr>
                        <a:t>Check fixed hardware and pump capability off-design</a:t>
                      </a:r>
                    </a:p>
                  </a:txBody>
                  <a:tcPr marL="85725" marR="76200" marT="38100" marB="38100" anchor="ctr">
                    <a:solidFill>
                      <a:srgbClr val="FFFFFF"/>
                    </a:solidFill>
                  </a:tcPr>
                </a:tc>
              </a:tr>
            </a:tbl>
          </a:graphicData>
        </a:graphic>
      </p:graphicFrame>
    </p:spTree>
    <p:extLst>
      <p:ext uri="{BB962C8B-B14F-4D97-AF65-F5344CB8AC3E}">
        <p14:creationId xmlns:p14="http://schemas.microsoft.com/office/powerpoint/2010/main" val="65754036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097b975b17c4800"/>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294726A-5365-4D91-B74B-9664D8C27931}"/>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Rack Calculation Inputs and Assumptions</a:t>
            </a:r>
          </a:p>
        </p:txBody>
      </p:sp>
      <p:sp>
        <p:nvSpPr>
          <p:cNvPr id="3" name="">
            <a:extLst xmlns:a="http://schemas.openxmlformats.org/drawingml/2006/main">
              <a:ext uri="{FF2B5EF4-FFF2-40B4-BE49-F238E27FC236}">
                <a16:creationId xmlns:a16="http://schemas.microsoft.com/office/drawing/2014/main" id="{BD3FA009-0A2F-4A9F-A9C2-4F63BDC543AC}"/>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CA5CF5CE-A4F1-4D04-B6DD-A9FB2F7F7FE8}"/>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5050a68e8f7482b"/>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87985ED-9E89-4E47-B873-099819557DE3}"/>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a:t>
            </a:r>
          </a:p>
        </p:txBody>
      </p:sp>
      <p:sp>
        <p:nvSpPr>
          <p:cNvPr id="7" name="">
            <a:extLst xmlns:a="http://schemas.openxmlformats.org/drawingml/2006/main">
              <a:ext uri="{FF2B5EF4-FFF2-40B4-BE49-F238E27FC236}">
                <a16:creationId xmlns:a16="http://schemas.microsoft.com/office/drawing/2014/main" id="{EF8F634F-18E9-4FE8-B539-86CFD2D36958}"/>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[4] [7]  Sources and calculation details in speaker notes.</a:t>
            </a:r>
          </a:p>
        </p:txBody>
      </p:sp>
      <p:graphicFrame>
        <p:nvGraphicFramePr>
          <p:cNvPr id="16" name=""/>
          <p:cNvGraphicFramePr/>
          <p:nvPr/>
        </p:nvGraphicFramePr>
        <p:xfrm>
          <a:off xmlns:a="http://schemas.openxmlformats.org/drawingml/2006/main" x="400050" y="1038225"/>
          <a:ext xmlns:a="http://schemas.openxmlformats.org/drawingml/2006/main" cx="8334375" cy="3105150"/>
        </p:xfrm>
        <a:graphic xmlns:a="http://schemas.openxmlformats.org/drawingml/2006/main">
          <a:graphicData uri="http://schemas.openxmlformats.org/drawingml/2006/table">
            <a:tbl>
              <a:tblPr/>
              <a:tblGrid>
                <a:gridCol w="2228850"/>
                <a:gridCol w="3209925"/>
                <a:gridCol w="2895600"/>
              </a:tblGrid>
              <a:tr h="443593">
                <a:tc>
                  <a:txBody>
                    <a:bodyPr/>
                    <a:lstStyle/>
                    <a:p>
                      <a:r>
                        <a:rPr sz="1425" b="1">
                          <a:solidFill>
                            <a:srgbClr val="00144D"/>
                          </a:solidFill>
                          <a:latin typeface="Arial"/>
                          <a:ea typeface="Arial"/>
                          <a:cs typeface="Arial"/>
                        </a:rPr>
                        <a:t>Input</a:t>
                      </a:r>
                    </a:p>
                  </a:txBody>
                  <a:tcPr marL="85725" marR="76200" marT="38100" marB="38100" anchor="ctr">
                    <a:solidFill>
                      <a:srgbClr val="E9EEF5"/>
                    </a:solidFill>
                  </a:tcPr>
                </a:tc>
                <a:tc>
                  <a:txBody>
                    <a:bodyPr/>
                    <a:lstStyle/>
                    <a:p>
                      <a:r>
                        <a:rPr sz="1425" b="1">
                          <a:solidFill>
                            <a:srgbClr val="00144D"/>
                          </a:solidFill>
                          <a:latin typeface="Arial"/>
                          <a:ea typeface="Arial"/>
                          <a:cs typeface="Arial"/>
                        </a:rPr>
                        <a:t>Study value</a:t>
                      </a:r>
                    </a:p>
                  </a:txBody>
                  <a:tcPr marL="85725" marR="76200" marT="38100" marB="38100" anchor="ctr">
                    <a:solidFill>
                      <a:srgbClr val="E9EEF5"/>
                    </a:solidFill>
                  </a:tcPr>
                </a:tc>
                <a:tc>
                  <a:txBody>
                    <a:bodyPr/>
                    <a:lstStyle/>
                    <a:p>
                      <a:r>
                        <a:rPr sz="1425" b="1">
                          <a:solidFill>
                            <a:srgbClr val="00144D"/>
                          </a:solidFill>
                          <a:latin typeface="Arial"/>
                          <a:ea typeface="Arial"/>
                          <a:cs typeface="Arial"/>
                        </a:rPr>
                        <a:t>Evidence status</a:t>
                      </a:r>
                    </a:p>
                  </a:txBody>
                  <a:tcPr marL="85725" marR="76200" marT="38100" marB="38100" anchor="ctr">
                    <a:solidFill>
                      <a:srgbClr val="E9EEF5"/>
                    </a:solidFill>
                  </a:tcPr>
                </a:tc>
              </a:tr>
              <a:tr h="443593">
                <a:tc>
                  <a:txBody>
                    <a:bodyPr/>
                    <a:lstStyle/>
                    <a:p>
                      <a:r>
                        <a:rPr sz="1425">
                          <a:solidFill>
                            <a:srgbClr val="242B35"/>
                          </a:solidFill>
                          <a:latin typeface="Arial"/>
                          <a:ea typeface="Arial"/>
                          <a:cs typeface="Arial"/>
                        </a:rPr>
                        <a:t>Rack topology</a:t>
                      </a:r>
                    </a:p>
                  </a:txBody>
                  <a:tcPr marL="85725" marR="76200" marT="38100" marB="38100" anchor="ctr">
                    <a:solidFill>
                      <a:srgbClr val="FFFFFF"/>
                    </a:solidFill>
                  </a:tcPr>
                </a:tc>
                <a:tc>
                  <a:txBody>
                    <a:bodyPr/>
                    <a:lstStyle/>
                    <a:p>
                      <a:r>
                        <a:rPr sz="1425">
                          <a:solidFill>
                            <a:srgbClr val="242B35"/>
                          </a:solidFill>
                          <a:latin typeface="Arial"/>
                          <a:ea typeface="Arial"/>
                          <a:cs typeface="Arial"/>
                        </a:rPr>
                        <a:t>18 compute + 9 switch trays</a:t>
                      </a:r>
                    </a:p>
                  </a:txBody>
                  <a:tcPr marL="85725" marR="76200" marT="38100" marB="38100" anchor="ctr">
                    <a:solidFill>
                      <a:srgbClr val="FFFFFF"/>
                    </a:solidFill>
                  </a:tcPr>
                </a:tc>
                <a:tc>
                  <a:txBody>
                    <a:bodyPr/>
                    <a:lstStyle/>
                    <a:p>
                      <a:r>
                        <a:rPr sz="1425">
                          <a:solidFill>
                            <a:srgbClr val="242B35"/>
                          </a:solidFill>
                          <a:latin typeface="Arial"/>
                          <a:ea typeface="Arial"/>
                          <a:cs typeface="Arial"/>
                        </a:rPr>
                        <a:t>Published topology [4]</a:t>
                      </a:r>
                    </a:p>
                  </a:txBody>
                  <a:tcPr marL="85725" marR="76200" marT="38100" marB="38100" anchor="ctr">
                    <a:solidFill>
                      <a:srgbClr val="FFFFFF"/>
                    </a:solidFill>
                  </a:tcPr>
                </a:tc>
              </a:tr>
              <a:tr h="443593">
                <a:tc>
                  <a:txBody>
                    <a:bodyPr/>
                    <a:lstStyle/>
                    <a:p>
                      <a:r>
                        <a:rPr sz="1425">
                          <a:solidFill>
                            <a:srgbClr val="242B35"/>
                          </a:solidFill>
                          <a:latin typeface="Arial"/>
                          <a:ea typeface="Arial"/>
                          <a:cs typeface="Arial"/>
                        </a:rPr>
                        <a:t>Liquid heat scenario</a:t>
                      </a:r>
                    </a:p>
                  </a:txBody>
                  <a:tcPr marL="85725" marR="76200" marT="38100" marB="38100" anchor="ctr">
                    <a:solidFill>
                      <a:srgbClr val="F5F6F8"/>
                    </a:solidFill>
                  </a:tcPr>
                </a:tc>
                <a:tc>
                  <a:txBody>
                    <a:bodyPr/>
                    <a:lstStyle/>
                    <a:p>
                      <a:r>
                        <a:rPr sz="1425">
                          <a:solidFill>
                            <a:srgbClr val="242B35"/>
                          </a:solidFill>
                          <a:latin typeface="Arial"/>
                          <a:ea typeface="Arial"/>
                          <a:cs typeface="Arial"/>
                        </a:rPr>
                        <a:t>18 × 5.80 + 9 × 1.24 = 115.56 kW</a:t>
                      </a:r>
                    </a:p>
                  </a:txBody>
                  <a:tcPr marL="85725" marR="76200" marT="38100" marB="38100" anchor="ctr">
                    <a:solidFill>
                      <a:srgbClr val="F5F6F8"/>
                    </a:solidFill>
                  </a:tcPr>
                </a:tc>
                <a:tc>
                  <a:txBody>
                    <a:bodyPr/>
                    <a:lstStyle/>
                    <a:p>
                      <a:r>
                        <a:rPr sz="1425">
                          <a:solidFill>
                            <a:srgbClr val="242B35"/>
                          </a:solidFill>
                          <a:latin typeface="Arial"/>
                          <a:ea typeface="Arial"/>
                          <a:cs typeface="Arial"/>
                        </a:rPr>
                        <a:t>Model load assumptions</a:t>
                      </a:r>
                    </a:p>
                  </a:txBody>
                  <a:tcPr marL="85725" marR="76200" marT="38100" marB="38100" anchor="ctr">
                    <a:solidFill>
                      <a:srgbClr val="F5F6F8"/>
                    </a:solidFill>
                  </a:tcPr>
                </a:tc>
              </a:tr>
              <a:tr h="443593">
                <a:tc>
                  <a:txBody>
                    <a:bodyPr/>
                    <a:lstStyle/>
                    <a:p>
                      <a:r>
                        <a:rPr sz="1425">
                          <a:solidFill>
                            <a:srgbClr val="242B35"/>
                          </a:solidFill>
                          <a:latin typeface="Arial"/>
                          <a:ea typeface="Arial"/>
                          <a:cs typeface="Arial"/>
                        </a:rPr>
                        <a:t>Rack coolant / supply / flow</a:t>
                      </a:r>
                    </a:p>
                  </a:txBody>
                  <a:tcPr marL="85725" marR="76200" marT="38100" marB="38100" anchor="ctr">
                    <a:solidFill>
                      <a:srgbClr val="FFFFFF"/>
                    </a:solidFill>
                  </a:tcPr>
                </a:tc>
                <a:tc>
                  <a:txBody>
                    <a:bodyPr/>
                    <a:lstStyle/>
                    <a:p>
                      <a:r>
                        <a:rPr sz="1425">
                          <a:solidFill>
                            <a:srgbClr val="242B35"/>
                          </a:solidFill>
                          <a:latin typeface="Arial"/>
                          <a:ea typeface="Arial"/>
                          <a:cs typeface="Arial"/>
                        </a:rPr>
                        <a:t>Legacy PG25 / 40 °C / 120 L/min</a:t>
                      </a:r>
                    </a:p>
                  </a:txBody>
                  <a:tcPr marL="85725" marR="76200" marT="38100" marB="38100" anchor="ctr">
                    <a:solidFill>
                      <a:srgbClr val="FFFFFF"/>
                    </a:solidFill>
                  </a:tcPr>
                </a:tc>
                <a:tc>
                  <a:txBody>
                    <a:bodyPr/>
                    <a:lstStyle/>
                    <a:p>
                      <a:r>
                        <a:rPr sz="1425">
                          <a:solidFill>
                            <a:srgbClr val="242B35"/>
                          </a:solidFill>
                          <a:latin typeface="Arial"/>
                          <a:ea typeface="Arial"/>
                          <a:cs typeface="Arial"/>
                        </a:rPr>
                        <a:t>Chosen operating point</a:t>
                      </a:r>
                    </a:p>
                  </a:txBody>
                  <a:tcPr marL="85725" marR="76200" marT="38100" marB="38100" anchor="ctr">
                    <a:solidFill>
                      <a:srgbClr val="FFFFFF"/>
                    </a:solidFill>
                  </a:tcPr>
                </a:tc>
              </a:tr>
              <a:tr h="443593">
                <a:tc>
                  <a:txBody>
                    <a:bodyPr/>
                    <a:lstStyle/>
                    <a:p>
                      <a:r>
                        <a:rPr sz="1425">
                          <a:solidFill>
                            <a:srgbClr val="242B35"/>
                          </a:solidFill>
                          <a:latin typeface="Arial"/>
                          <a:ea typeface="Arial"/>
                          <a:cs typeface="Arial"/>
                        </a:rPr>
                        <a:t>Headers / branch IDs</a:t>
                      </a:r>
                    </a:p>
                  </a:txBody>
                  <a:tcPr marL="85725" marR="76200" marT="38100" marB="38100" anchor="ctr">
                    <a:solidFill>
                      <a:srgbClr val="F5F6F8"/>
                    </a:solidFill>
                  </a:tcPr>
                </a:tc>
                <a:tc>
                  <a:txBody>
                    <a:bodyPr/>
                    <a:lstStyle/>
                    <a:p>
                      <a:r>
                        <a:rPr sz="1425">
                          <a:solidFill>
                            <a:srgbClr val="242B35"/>
                          </a:solidFill>
                          <a:latin typeface="Arial"/>
                          <a:ea typeface="Arial"/>
                          <a:cs typeface="Arial"/>
                        </a:rPr>
                        <a:t>38 mm / compute 8 mm, switch 6 mm</a:t>
                      </a:r>
                    </a:p>
                  </a:txBody>
                  <a:tcPr marL="85725" marR="76200" marT="38100" marB="38100" anchor="ctr">
                    <a:solidFill>
                      <a:srgbClr val="F5F6F8"/>
                    </a:solidFill>
                  </a:tcPr>
                </a:tc>
                <a:tc>
                  <a:txBody>
                    <a:bodyPr/>
                    <a:lstStyle/>
                    <a:p>
                      <a:r>
                        <a:rPr sz="1425">
                          <a:solidFill>
                            <a:srgbClr val="242B35"/>
                          </a:solidFill>
                          <a:latin typeface="Arial"/>
                          <a:ea typeface="Arial"/>
                          <a:cs typeface="Arial"/>
                        </a:rPr>
                        <a:t>Assumed internal diameters</a:t>
                      </a:r>
                    </a:p>
                  </a:txBody>
                  <a:tcPr marL="85725" marR="76200" marT="38100" marB="38100" anchor="ctr">
                    <a:solidFill>
                      <a:srgbClr val="F5F6F8"/>
                    </a:solidFill>
                  </a:tcPr>
                </a:tc>
              </a:tr>
              <a:tr h="443593">
                <a:tc>
                  <a:txBody>
                    <a:bodyPr/>
                    <a:lstStyle/>
                    <a:p>
                      <a:r>
                        <a:rPr sz="1425">
                          <a:solidFill>
                            <a:srgbClr val="242B35"/>
                          </a:solidFill>
                          <a:latin typeface="Arial"/>
                          <a:ea typeface="Arial"/>
                          <a:cs typeface="Arial"/>
                        </a:rPr>
                        <a:t>QD and cold-plate losses</a:t>
                      </a:r>
                    </a:p>
                  </a:txBody>
                  <a:tcPr marL="85725" marR="76200" marT="38100" marB="38100" anchor="ctr">
                    <a:solidFill>
                      <a:srgbClr val="FFFFFF"/>
                    </a:solidFill>
                  </a:tcPr>
                </a:tc>
                <a:tc>
                  <a:txBody>
                    <a:bodyPr/>
                    <a:lstStyle/>
                    <a:p>
                      <a:r>
                        <a:rPr sz="1425">
                          <a:solidFill>
                            <a:srgbClr val="242B35"/>
                          </a:solidFill>
                          <a:latin typeface="Arial"/>
                          <a:ea typeface="Arial"/>
                          <a:cs typeface="Arial"/>
                        </a:rPr>
                        <a:t>Separate reduced resistance coefficients</a:t>
                      </a:r>
                    </a:p>
                  </a:txBody>
                  <a:tcPr marL="85725" marR="76200" marT="38100" marB="38100" anchor="ctr">
                    <a:solidFill>
                      <a:srgbClr val="FFFFFF"/>
                    </a:solidFill>
                  </a:tcPr>
                </a:tc>
                <a:tc>
                  <a:txBody>
                    <a:bodyPr/>
                    <a:lstStyle/>
                    <a:p>
                      <a:r>
                        <a:rPr sz="1425">
                          <a:solidFill>
                            <a:srgbClr val="242B35"/>
                          </a:solidFill>
                          <a:latin typeface="Arial"/>
                          <a:ea typeface="Arial"/>
                          <a:cs typeface="Arial"/>
                        </a:rPr>
                        <a:t>Estimated, not measured curves</a:t>
                      </a:r>
                    </a:p>
                  </a:txBody>
                  <a:tcPr marL="85725" marR="76200" marT="38100" marB="38100" anchor="ctr">
                    <a:solidFill>
                      <a:srgbClr val="FFFFFF"/>
                    </a:solidFill>
                  </a:tcPr>
                </a:tc>
              </a:tr>
              <a:tr h="443593">
                <a:tc>
                  <a:txBody>
                    <a:bodyPr/>
                    <a:lstStyle/>
                    <a:p>
                      <a:r>
                        <a:rPr sz="1425">
                          <a:solidFill>
                            <a:srgbClr val="242B35"/>
                          </a:solidFill>
                          <a:latin typeface="Arial"/>
                          <a:ea typeface="Arial"/>
                          <a:cs typeface="Arial"/>
                        </a:rPr>
                        <a:t>Facility water</a:t>
                      </a:r>
                    </a:p>
                  </a:txBody>
                  <a:tcPr marL="85725" marR="76200" marT="38100" marB="38100" anchor="ctr">
                    <a:solidFill>
                      <a:srgbClr val="F5F6F8"/>
                    </a:solidFill>
                  </a:tcPr>
                </a:tc>
                <a:tc>
                  <a:txBody>
                    <a:bodyPr/>
                    <a:lstStyle/>
                    <a:p>
                      <a:r>
                        <a:rPr sz="1425">
                          <a:solidFill>
                            <a:srgbClr val="242B35"/>
                          </a:solidFill>
                          <a:latin typeface="Arial"/>
                          <a:ea typeface="Arial"/>
                          <a:cs typeface="Arial"/>
                        </a:rPr>
                        <a:t>36 °C, 150 L/min, one rack</a:t>
                      </a:r>
                    </a:p>
                  </a:txBody>
                  <a:tcPr marL="85725" marR="76200" marT="38100" marB="38100" anchor="ctr">
                    <a:solidFill>
                      <a:srgbClr val="F5F6F8"/>
                    </a:solidFill>
                  </a:tcPr>
                </a:tc>
                <a:tc>
                  <a:txBody>
                    <a:bodyPr/>
                    <a:lstStyle/>
                    <a:p>
                      <a:r>
                        <a:rPr sz="1425">
                          <a:solidFill>
                            <a:srgbClr val="242B35"/>
                          </a:solidFill>
                          <a:latin typeface="Arial"/>
                          <a:ea typeface="Arial"/>
                          <a:cs typeface="Arial"/>
                        </a:rPr>
                        <a:t>Scenario, not a facility limit</a:t>
                      </a:r>
                    </a:p>
                  </a:txBody>
                  <a:tcPr marL="85725" marR="76200" marT="38100" marB="38100" anchor="ctr">
                    <a:solidFill>
                      <a:srgbClr val="F5F6F8"/>
                    </a:solidFill>
                  </a:tcPr>
                </a:tc>
              </a:tr>
            </a:tbl>
          </a:graphicData>
        </a:graphic>
      </p:graphicFrame>
    </p:spTree>
    <p:extLst>
      <p:ext uri="{BB962C8B-B14F-4D97-AF65-F5344CB8AC3E}">
        <p14:creationId xmlns:p14="http://schemas.microsoft.com/office/powerpoint/2010/main" val="9165304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c8399ffa4ae44f0"/>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5927CBF-FEF0-49E9-9F37-0E481BCA7F22}"/>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Mass Balance and Heat-Proportional Flow</a:t>
            </a:r>
          </a:p>
        </p:txBody>
      </p:sp>
      <p:sp>
        <p:nvSpPr>
          <p:cNvPr id="3" name="">
            <a:extLst xmlns:a="http://schemas.openxmlformats.org/drawingml/2006/main">
              <a:ext uri="{FF2B5EF4-FFF2-40B4-BE49-F238E27FC236}">
                <a16:creationId xmlns:a16="http://schemas.microsoft.com/office/drawing/2014/main" id="{49146DBE-CCC0-4E74-9147-F4CFAC48FE6F}"/>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63AD7788-6C4E-405D-9D28-5A27F562099C}"/>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4cbd122d38245c6"/>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A8EBFBA-504B-47C4-8C24-5EBC05806F58}"/>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8</a:t>
            </a:r>
          </a:p>
        </p:txBody>
      </p:sp>
      <p:sp>
        <p:nvSpPr>
          <p:cNvPr id="7" name="">
            <a:extLst xmlns:a="http://schemas.openxmlformats.org/drawingml/2006/main">
              <a:ext uri="{FF2B5EF4-FFF2-40B4-BE49-F238E27FC236}">
                <a16:creationId xmlns:a16="http://schemas.microsoft.com/office/drawing/2014/main" id="{A83E5595-6126-4097-9E45-18E2BBDD7E19}"/>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sp>
        <p:nvSpPr>
          <p:cNvPr id="8" name="">
            <a:extLst xmlns:a="http://schemas.openxmlformats.org/drawingml/2006/main">
              <a:ext uri="{FF2B5EF4-FFF2-40B4-BE49-F238E27FC236}">
                <a16:creationId xmlns:a16="http://schemas.microsoft.com/office/drawing/2014/main" id="{9F2CFD8B-38B6-48D9-8495-BFE075BE2C00}"/>
              </a:ext>
            </a:extLst>
          </p:cNvPr>
          <p:cNvSpPr>
            <a:spLocks xmlns:a="http://schemas.openxmlformats.org/drawingml/2006/main" noGrp="1"/>
          </p:cNvSpPr>
          <p:nvPr/>
        </p:nvSpPr>
        <p:spPr>
          <a:xfrm xmlns:a="http://schemas.openxmlformats.org/drawingml/2006/main">
            <a:off x="419100" y="1019175"/>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1. Conserve coolant at every junction</a:t>
            </a:r>
          </a:p>
        </p:txBody>
      </p:sp>
      <p:sp>
        <p:nvSpPr>
          <p:cNvPr id="9" name="">
            <a:extLst xmlns:a="http://schemas.openxmlformats.org/drawingml/2006/main">
              <a:ext uri="{FF2B5EF4-FFF2-40B4-BE49-F238E27FC236}">
                <a16:creationId xmlns:a16="http://schemas.microsoft.com/office/drawing/2014/main" id="{2311ED4C-CED4-4B44-A21C-1EAABCBD17DC}"/>
              </a:ext>
            </a:extLst>
          </p:cNvPr>
          <p:cNvSpPr>
            <a:spLocks xmlns:a="http://schemas.openxmlformats.org/drawingml/2006/main" noGrp="1"/>
          </p:cNvSpPr>
          <p:nvPr/>
        </p:nvSpPr>
        <p:spPr>
          <a:xfrm xmlns:a="http://schemas.openxmlformats.org/drawingml/2006/main">
            <a:off x="419100" y="134302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Σ ṁin = Σ ṁout        and        Σ ṁi = ṁrack</a:t>
            </a:r>
          </a:p>
        </p:txBody>
      </p:sp>
      <p:sp>
        <p:nvSpPr>
          <p:cNvPr id="10" name="">
            <a:extLst xmlns:a="http://schemas.openxmlformats.org/drawingml/2006/main">
              <a:ext uri="{FF2B5EF4-FFF2-40B4-BE49-F238E27FC236}">
                <a16:creationId xmlns:a16="http://schemas.microsoft.com/office/drawing/2014/main" id="{73B02033-2454-4B33-96B8-CC94CD209E10}"/>
              </a:ext>
            </a:extLst>
          </p:cNvPr>
          <p:cNvSpPr>
            <a:spLocks xmlns:a="http://schemas.openxmlformats.org/drawingml/2006/main" noGrp="1"/>
          </p:cNvSpPr>
          <p:nvPr/>
        </p:nvSpPr>
        <p:spPr>
          <a:xfrm xmlns:a="http://schemas.openxmlformats.org/drawingml/2006/main">
            <a:off x="419100" y="2038350"/>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2. Allocate flow according to heat</a:t>
            </a:r>
          </a:p>
        </p:txBody>
      </p:sp>
      <p:sp>
        <p:nvSpPr>
          <p:cNvPr id="11" name="">
            <a:extLst xmlns:a="http://schemas.openxmlformats.org/drawingml/2006/main">
              <a:ext uri="{FF2B5EF4-FFF2-40B4-BE49-F238E27FC236}">
                <a16:creationId xmlns:a16="http://schemas.microsoft.com/office/drawing/2014/main" id="{DDCA82F2-C8C0-40C4-A373-627C57F41B39}"/>
              </a:ext>
            </a:extLst>
          </p:cNvPr>
          <p:cNvSpPr>
            <a:spLocks xmlns:a="http://schemas.openxmlformats.org/drawingml/2006/main" noGrp="1"/>
          </p:cNvSpPr>
          <p:nvPr/>
        </p:nvSpPr>
        <p:spPr>
          <a:xfrm xmlns:a="http://schemas.openxmlformats.org/drawingml/2006/main">
            <a:off x="419100" y="2362200"/>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ṁi* = ṁrack × Q̇i / Σ Q̇i</a:t>
            </a:r>
          </a:p>
        </p:txBody>
      </p:sp>
      <p:sp>
        <p:nvSpPr>
          <p:cNvPr id="12" name="">
            <a:extLst xmlns:a="http://schemas.openxmlformats.org/drawingml/2006/main">
              <a:ext uri="{FF2B5EF4-FFF2-40B4-BE49-F238E27FC236}">
                <a16:creationId xmlns:a16="http://schemas.microsoft.com/office/drawing/2014/main" id="{3DB6D919-A7FA-442A-8B46-A75C0BADFFC1}"/>
              </a:ext>
            </a:extLst>
          </p:cNvPr>
          <p:cNvSpPr>
            <a:spLocks xmlns:a="http://schemas.openxmlformats.org/drawingml/2006/main" noGrp="1"/>
          </p:cNvSpPr>
          <p:nvPr/>
        </p:nvSpPr>
        <p:spPr>
          <a:xfrm xmlns:a="http://schemas.openxmlformats.org/drawingml/2006/main">
            <a:off x="419100" y="2838450"/>
            <a:ext cx="819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95001A"/>
                </a:solidFill>
                <a:latin typeface="Arial"/>
                <a:ea typeface="Arial"/>
                <a:cs typeface="Arial"/>
              </a:defRPr>
            </a:pPr>
            <a:r>
              <a:rPr sz="1575" b="0">
                <a:solidFill>
                  <a:srgbClr val="95001A"/>
                </a:solidFill>
                <a:latin typeface="Arial"/>
                <a:ea typeface="Arial"/>
                <a:cs typeface="Arial"/>
              </a:rPr>
              <a:t>At 120 L/min: compute target = 6.02 L/min per tray; switch = 1.29 L/min.</a:t>
            </a:r>
          </a:p>
        </p:txBody>
      </p:sp>
      <p:sp>
        <p:nvSpPr>
          <p:cNvPr id="13" name="">
            <a:extLst xmlns:a="http://schemas.openxmlformats.org/drawingml/2006/main">
              <a:ext uri="{FF2B5EF4-FFF2-40B4-BE49-F238E27FC236}">
                <a16:creationId xmlns:a16="http://schemas.microsoft.com/office/drawing/2014/main" id="{0F69C0A2-DAA8-41C7-B01D-9E51BB8D7AFB}"/>
              </a:ext>
            </a:extLst>
          </p:cNvPr>
          <p:cNvSpPr>
            <a:spLocks xmlns:a="http://schemas.openxmlformats.org/drawingml/2006/main" noGrp="1"/>
          </p:cNvSpPr>
          <p:nvPr/>
        </p:nvSpPr>
        <p:spPr>
          <a:xfrm xmlns:a="http://schemas.openxmlformats.org/drawingml/2006/main">
            <a:off x="419100" y="3362325"/>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3. Solve each tray energy balance</a:t>
            </a:r>
          </a:p>
        </p:txBody>
      </p:sp>
      <p:sp>
        <p:nvSpPr>
          <p:cNvPr id="14" name="">
            <a:extLst xmlns:a="http://schemas.openxmlformats.org/drawingml/2006/main">
              <a:ext uri="{FF2B5EF4-FFF2-40B4-BE49-F238E27FC236}">
                <a16:creationId xmlns:a16="http://schemas.microsoft.com/office/drawing/2014/main" id="{F347D4DE-1267-4E44-B073-02FE45FFBFC6}"/>
              </a:ext>
            </a:extLst>
          </p:cNvPr>
          <p:cNvSpPr>
            <a:spLocks xmlns:a="http://schemas.openxmlformats.org/drawingml/2006/main" noGrp="1"/>
          </p:cNvSpPr>
          <p:nvPr/>
        </p:nvSpPr>
        <p:spPr>
          <a:xfrm xmlns:a="http://schemas.openxmlformats.org/drawingml/2006/main">
            <a:off x="419100" y="368617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Q̇i = ṁi [h(Tout,i) − h(Tin)]        h(T) = ∫ cp(T) dT</a:t>
            </a:r>
          </a:p>
        </p:txBody>
      </p:sp>
      <p:sp>
        <p:nvSpPr>
          <p:cNvPr id="15" name="">
            <a:extLst xmlns:a="http://schemas.openxmlformats.org/drawingml/2006/main">
              <a:ext uri="{FF2B5EF4-FFF2-40B4-BE49-F238E27FC236}">
                <a16:creationId xmlns:a16="http://schemas.microsoft.com/office/drawing/2014/main" id="{7041144C-4201-457D-98DF-276E4564628A}"/>
              </a:ext>
            </a:extLst>
          </p:cNvPr>
          <p:cNvSpPr>
            <a:spLocks xmlns:a="http://schemas.openxmlformats.org/drawingml/2006/main" noGrp="1"/>
          </p:cNvSpPr>
          <p:nvPr/>
        </p:nvSpPr>
        <p:spPr>
          <a:xfrm xmlns:a="http://schemas.openxmlformats.org/drawingml/2006/main">
            <a:off x="419100" y="4076700"/>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00144D"/>
                </a:solidFill>
                <a:latin typeface="Arial"/>
                <a:ea typeface="Arial"/>
                <a:cs typeface="Arial"/>
              </a:defRPr>
            </a:pPr>
            <a:r>
              <a:rPr sz="1350" b="0">
                <a:solidFill>
                  <a:srgbClr val="00144D"/>
                </a:solidFill>
                <a:latin typeface="Arial"/>
                <a:ea typeface="Arial"/>
                <a:cs typeface="Arial"/>
              </a:rPr>
              <a:t>Flow error (%) = 100 √{(1/n) Σ [(ṁi / ṁi*) − 1]²}</a:t>
            </a:r>
          </a:p>
        </p:txBody>
      </p:sp>
    </p:spTree>
    <p:extLst>
      <p:ext uri="{BB962C8B-B14F-4D97-AF65-F5344CB8AC3E}">
        <p14:creationId xmlns:p14="http://schemas.microsoft.com/office/powerpoint/2010/main" val="18497208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80d8617c44c4d0b"/>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ABE0056-8D21-423F-B359-56848FA35B69}"/>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Pressure Loss and Orifice Sizing</a:t>
            </a:r>
          </a:p>
        </p:txBody>
      </p:sp>
      <p:sp>
        <p:nvSpPr>
          <p:cNvPr id="3" name="">
            <a:extLst xmlns:a="http://schemas.openxmlformats.org/drawingml/2006/main">
              <a:ext uri="{FF2B5EF4-FFF2-40B4-BE49-F238E27FC236}">
                <a16:creationId xmlns:a16="http://schemas.microsoft.com/office/drawing/2014/main" id="{5ED3D9D0-ACEF-4E70-9379-29CE3A68935D}"/>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9D316D34-49C8-4701-A550-D584ADE45069}"/>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8bd1c5daee73488b"/>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653C35D-5AA8-444D-B7CF-AC66C11BE7D4}"/>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9</a:t>
            </a:r>
          </a:p>
        </p:txBody>
      </p:sp>
      <p:sp>
        <p:nvSpPr>
          <p:cNvPr id="7" name="">
            <a:extLst xmlns:a="http://schemas.openxmlformats.org/drawingml/2006/main">
              <a:ext uri="{FF2B5EF4-FFF2-40B4-BE49-F238E27FC236}">
                <a16:creationId xmlns:a16="http://schemas.microsoft.com/office/drawing/2014/main" id="{B01AD0BE-AD90-412C-90CD-D343AC07C357}"/>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sp>
        <p:nvSpPr>
          <p:cNvPr id="8" name="">
            <a:extLst xmlns:a="http://schemas.openxmlformats.org/drawingml/2006/main">
              <a:ext uri="{FF2B5EF4-FFF2-40B4-BE49-F238E27FC236}">
                <a16:creationId xmlns:a16="http://schemas.microsoft.com/office/drawing/2014/main" id="{37941760-EA4B-403D-B84B-E9B0DF89AA17}"/>
              </a:ext>
            </a:extLst>
          </p:cNvPr>
          <p:cNvSpPr>
            <a:spLocks xmlns:a="http://schemas.openxmlformats.org/drawingml/2006/main" noGrp="1"/>
          </p:cNvSpPr>
          <p:nvPr/>
        </p:nvSpPr>
        <p:spPr>
          <a:xfrm xmlns:a="http://schemas.openxmlformats.org/drawingml/2006/main">
            <a:off x="409575" y="1009650"/>
            <a:ext cx="4238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0144D"/>
                </a:solidFill>
                <a:latin typeface="Arial"/>
                <a:ea typeface="Arial"/>
                <a:cs typeface="Arial"/>
              </a:defRPr>
            </a:pPr>
            <a:r>
              <a:rPr sz="1800" b="1">
                <a:solidFill>
                  <a:srgbClr val="00144D"/>
                </a:solidFill>
                <a:latin typeface="Arial"/>
                <a:ea typeface="Arial"/>
                <a:cs typeface="Arial"/>
              </a:rPr>
              <a:t>Pipe and fitting losses</a:t>
            </a:r>
          </a:p>
        </p:txBody>
      </p:sp>
      <p:sp>
        <p:nvSpPr>
          <p:cNvPr id="9" name="">
            <a:extLst xmlns:a="http://schemas.openxmlformats.org/drawingml/2006/main">
              <a:ext uri="{FF2B5EF4-FFF2-40B4-BE49-F238E27FC236}">
                <a16:creationId xmlns:a16="http://schemas.microsoft.com/office/drawing/2014/main" id="{D220C535-8996-467E-9863-C62B742F2BCA}"/>
              </a:ext>
            </a:extLst>
          </p:cNvPr>
          <p:cNvSpPr>
            <a:spLocks xmlns:a="http://schemas.openxmlformats.org/drawingml/2006/main" noGrp="1"/>
          </p:cNvSpPr>
          <p:nvPr/>
        </p:nvSpPr>
        <p:spPr>
          <a:xfrm xmlns:a="http://schemas.openxmlformats.org/drawingml/2006/main">
            <a:off x="409575" y="1409700"/>
            <a:ext cx="41624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42B35"/>
                </a:solidFill>
                <a:latin typeface="Arial"/>
                <a:ea typeface="Arial"/>
                <a:cs typeface="Arial"/>
              </a:defRPr>
            </a:pPr>
            <a:r>
              <a:rPr sz="1875" b="0">
                <a:solidFill>
                  <a:srgbClr val="242B35"/>
                </a:solidFill>
                <a:latin typeface="Arial"/>
                <a:ea typeface="Arial"/>
                <a:cs typeface="Arial"/>
              </a:rPr>
              <a:t>Δp = (f L/D + ΣK) ρv²/2</a:t>
            </a:r>
          </a:p>
          <a:p xmlns:a="http://schemas.openxmlformats.org/drawingml/2006/main">
            <a:pPr>
              <a:defRPr sz="1875" b="0">
                <a:solidFill>
                  <a:srgbClr val="242B35"/>
                </a:solidFill>
                <a:latin typeface="Arial"/>
                <a:ea typeface="Arial"/>
                <a:cs typeface="Arial"/>
              </a:defRPr>
            </a:pPr>
            <a:r>
              <a:rPr sz="1875" b="0">
                <a:solidFill>
                  <a:srgbClr val="242B35"/>
                </a:solidFill>
                <a:latin typeface="Arial"/>
                <a:ea typeface="Arial"/>
                <a:cs typeface="Arial"/>
              </a:rPr>
              <a:t>Re = ρvD/μ</a:t>
            </a:r>
          </a:p>
        </p:txBody>
      </p:sp>
      <p:sp>
        <p:nvSpPr>
          <p:cNvPr id="10" name="">
            <a:extLst xmlns:a="http://schemas.openxmlformats.org/drawingml/2006/main">
              <a:ext uri="{FF2B5EF4-FFF2-40B4-BE49-F238E27FC236}">
                <a16:creationId xmlns:a16="http://schemas.microsoft.com/office/drawing/2014/main" id="{F95FAD68-CD3C-4D90-8608-C9FCE2E1EB44}"/>
              </a:ext>
            </a:extLst>
          </p:cNvPr>
          <p:cNvSpPr>
            <a:spLocks xmlns:a="http://schemas.openxmlformats.org/drawingml/2006/main" noGrp="1"/>
          </p:cNvSpPr>
          <p:nvPr/>
        </p:nvSpPr>
        <p:spPr>
          <a:xfrm xmlns:a="http://schemas.openxmlformats.org/drawingml/2006/main">
            <a:off x="409575" y="2219325"/>
            <a:ext cx="39147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Use 64/Re in laminar flow; a Haaland relation in turbulent flow, with a transition blend.</a:t>
            </a:r>
          </a:p>
        </p:txBody>
      </p:sp>
      <p:sp>
        <p:nvSpPr>
          <p:cNvPr id="11" name="">
            <a:extLst xmlns:a="http://schemas.openxmlformats.org/drawingml/2006/main">
              <a:ext uri="{FF2B5EF4-FFF2-40B4-BE49-F238E27FC236}">
                <a16:creationId xmlns:a16="http://schemas.microsoft.com/office/drawing/2014/main" id="{D4A7D990-A1F2-433A-AFF7-9AA4C46A0816}"/>
              </a:ext>
            </a:extLst>
          </p:cNvPr>
          <p:cNvSpPr>
            <a:spLocks xmlns:a="http://schemas.openxmlformats.org/drawingml/2006/main" noGrp="1"/>
          </p:cNvSpPr>
          <p:nvPr/>
        </p:nvSpPr>
        <p:spPr>
          <a:xfrm xmlns:a="http://schemas.openxmlformats.org/drawingml/2006/main">
            <a:off x="409575" y="3143250"/>
            <a:ext cx="4105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0144D"/>
                </a:solidFill>
                <a:latin typeface="Arial"/>
                <a:ea typeface="Arial"/>
                <a:cs typeface="Arial"/>
              </a:defRPr>
            </a:pPr>
            <a:r>
              <a:rPr sz="1800" b="1">
                <a:solidFill>
                  <a:srgbClr val="00144D"/>
                </a:solidFill>
                <a:latin typeface="Arial"/>
                <a:ea typeface="Arial"/>
                <a:cs typeface="Arial"/>
              </a:rPr>
              <a:t>Network closure</a:t>
            </a:r>
          </a:p>
        </p:txBody>
      </p:sp>
      <p:sp>
        <p:nvSpPr>
          <p:cNvPr id="12" name="">
            <a:extLst xmlns:a="http://schemas.openxmlformats.org/drawingml/2006/main">
              <a:ext uri="{FF2B5EF4-FFF2-40B4-BE49-F238E27FC236}">
                <a16:creationId xmlns:a16="http://schemas.microsoft.com/office/drawing/2014/main" id="{CE73D436-47E1-4902-8BB3-C5B3BBFF0804}"/>
              </a:ext>
            </a:extLst>
          </p:cNvPr>
          <p:cNvSpPr>
            <a:spLocks xmlns:a="http://schemas.openxmlformats.org/drawingml/2006/main" noGrp="1"/>
          </p:cNvSpPr>
          <p:nvPr/>
        </p:nvSpPr>
        <p:spPr>
          <a:xfrm xmlns:a="http://schemas.openxmlformats.org/drawingml/2006/main">
            <a:off x="409575" y="3533775"/>
            <a:ext cx="395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Each complete supply–tray–return path has the same end-to-end pressure difference. Include elevation head.</a:t>
            </a:r>
          </a:p>
        </p:txBody>
      </p:sp>
      <p:sp>
        <p:nvSpPr>
          <p:cNvPr id="13" name="">
            <a:extLst xmlns:a="http://schemas.openxmlformats.org/drawingml/2006/main">
              <a:ext uri="{FF2B5EF4-FFF2-40B4-BE49-F238E27FC236}">
                <a16:creationId xmlns:a16="http://schemas.microsoft.com/office/drawing/2014/main" id="{C4114B4C-EF9E-4EE1-91C7-E0C341FE0F74}"/>
              </a:ext>
            </a:extLst>
          </p:cNvPr>
          <p:cNvSpPr>
            <a:spLocks xmlns:a="http://schemas.openxmlformats.org/drawingml/2006/main" noGrp="1"/>
          </p:cNvSpPr>
          <p:nvPr/>
        </p:nvSpPr>
        <p:spPr>
          <a:xfrm xmlns:a="http://schemas.openxmlformats.org/drawingml/2006/main">
            <a:off x="4781550" y="1009650"/>
            <a:ext cx="3924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0144D"/>
                </a:solidFill>
                <a:latin typeface="Arial"/>
                <a:ea typeface="Arial"/>
                <a:cs typeface="Arial"/>
              </a:defRPr>
            </a:pPr>
            <a:r>
              <a:rPr sz="1800" b="1">
                <a:solidFill>
                  <a:srgbClr val="00144D"/>
                </a:solidFill>
                <a:latin typeface="Arial"/>
                <a:ea typeface="Arial"/>
                <a:cs typeface="Arial"/>
              </a:rPr>
              <a:t>Permanent orifice loss</a:t>
            </a:r>
          </a:p>
        </p:txBody>
      </p:sp>
      <p:sp>
        <p:nvSpPr>
          <p:cNvPr id="14" name="">
            <a:extLst xmlns:a="http://schemas.openxmlformats.org/drawingml/2006/main">
              <a:ext uri="{FF2B5EF4-FFF2-40B4-BE49-F238E27FC236}">
                <a16:creationId xmlns:a16="http://schemas.microsoft.com/office/drawing/2014/main" id="{854E6122-B288-418B-93A8-93D5B2075220}"/>
              </a:ext>
            </a:extLst>
          </p:cNvPr>
          <p:cNvSpPr>
            <a:spLocks xmlns:a="http://schemas.openxmlformats.org/drawingml/2006/main" noGrp="1"/>
          </p:cNvSpPr>
          <p:nvPr/>
        </p:nvSpPr>
        <p:spPr>
          <a:xfrm xmlns:a="http://schemas.openxmlformats.org/drawingml/2006/main">
            <a:off x="4781550" y="1409700"/>
            <a:ext cx="3952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242B35"/>
                </a:solidFill>
                <a:latin typeface="Arial"/>
                <a:ea typeface="Arial"/>
                <a:cs typeface="Arial"/>
              </a:defRPr>
            </a:pPr>
            <a:r>
              <a:rPr sz="1875" b="0">
                <a:solidFill>
                  <a:srgbClr val="242B35"/>
                </a:solidFill>
                <a:latin typeface="Arial"/>
                <a:ea typeface="Arial"/>
                <a:cs typeface="Arial"/>
              </a:rPr>
              <a:t>Δporifice = Kh ṁ²</a:t>
            </a:r>
          </a:p>
          <a:p xmlns:a="http://schemas.openxmlformats.org/drawingml/2006/main">
            <a:pPr>
              <a:defRPr sz="1875" b="0">
                <a:solidFill>
                  <a:srgbClr val="242B35"/>
                </a:solidFill>
                <a:latin typeface="Arial"/>
                <a:ea typeface="Arial"/>
                <a:cs typeface="Arial"/>
              </a:defRPr>
            </a:pPr>
            <a:r>
              <a:rPr sz="1875" b="0">
                <a:solidFill>
                  <a:srgbClr val="242B35"/>
                </a:solidFill>
                <a:latin typeface="Arial"/>
                <a:ea typeface="Arial"/>
                <a:cs typeface="Arial"/>
              </a:rPr>
              <a:t>β = d/D     Ao = πd²/4</a:t>
            </a:r>
          </a:p>
        </p:txBody>
      </p:sp>
      <p:sp>
        <p:nvSpPr>
          <p:cNvPr id="15" name="">
            <a:extLst xmlns:a="http://schemas.openxmlformats.org/drawingml/2006/main">
              <a:ext uri="{FF2B5EF4-FFF2-40B4-BE49-F238E27FC236}">
                <a16:creationId xmlns:a16="http://schemas.microsoft.com/office/drawing/2014/main" id="{F7C92282-46F8-45FF-A180-203FAD014D9D}"/>
              </a:ext>
            </a:extLst>
          </p:cNvPr>
          <p:cNvSpPr>
            <a:spLocks xmlns:a="http://schemas.openxmlformats.org/drawingml/2006/main" noGrp="1"/>
          </p:cNvSpPr>
          <p:nvPr/>
        </p:nvSpPr>
        <p:spPr>
          <a:xfrm xmlns:a="http://schemas.openxmlformats.org/drawingml/2006/main">
            <a:off x="4781550" y="2238375"/>
            <a:ext cx="39528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Kh = [√(1 − β⁴(1 − Cd²)) − Cd β²]²</a:t>
            </a:r>
          </a:p>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                 / (2ρ Cd² Ao²)</a:t>
            </a:r>
          </a:p>
        </p:txBody>
      </p:sp>
      <p:sp>
        <p:nvSpPr>
          <p:cNvPr id="16" name="">
            <a:extLst xmlns:a="http://schemas.openxmlformats.org/drawingml/2006/main">
              <a:ext uri="{FF2B5EF4-FFF2-40B4-BE49-F238E27FC236}">
                <a16:creationId xmlns:a16="http://schemas.microsoft.com/office/drawing/2014/main" id="{7E1F8F9A-4E0A-4C12-A11A-53E2B4070A4B}"/>
              </a:ext>
            </a:extLst>
          </p:cNvPr>
          <p:cNvSpPr>
            <a:spLocks xmlns:a="http://schemas.openxmlformats.org/drawingml/2006/main" noGrp="1"/>
          </p:cNvSpPr>
          <p:nvPr/>
        </p:nvSpPr>
        <p:spPr>
          <a:xfrm xmlns:a="http://schemas.openxmlformats.org/drawingml/2006/main">
            <a:off x="4781550" y="3209925"/>
            <a:ext cx="3952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For required Kh, invert this relation to obtain bore d. Smaller bores increase resistance.</a:t>
            </a:r>
          </a:p>
        </p:txBody>
      </p:sp>
      <p:sp>
        <p:nvSpPr>
          <p:cNvPr id="17" name="">
            <a:extLst xmlns:a="http://schemas.openxmlformats.org/drawingml/2006/main">
              <a:ext uri="{FF2B5EF4-FFF2-40B4-BE49-F238E27FC236}">
                <a16:creationId xmlns:a16="http://schemas.microsoft.com/office/drawing/2014/main" id="{3BE8F502-EFE5-4436-97B8-0C078259BA4B}"/>
              </a:ext>
            </a:extLst>
          </p:cNvPr>
          <p:cNvSpPr>
            <a:spLocks xmlns:a="http://schemas.openxmlformats.org/drawingml/2006/main" noGrp="1"/>
          </p:cNvSpPr>
          <p:nvPr/>
        </p:nvSpPr>
        <p:spPr>
          <a:xfrm xmlns:a="http://schemas.openxmlformats.org/drawingml/2006/main">
            <a:off x="4781550" y="4029075"/>
            <a:ext cx="3952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95001A"/>
                </a:solidFill>
                <a:latin typeface="Arial"/>
                <a:ea typeface="Arial"/>
                <a:cs typeface="Arial"/>
              </a:defRPr>
            </a:pPr>
            <a:r>
              <a:rPr sz="1500" b="0">
                <a:solidFill>
                  <a:srgbClr val="95001A"/>
                </a:solidFill>
                <a:latin typeface="Arial"/>
                <a:ea typeface="Arial"/>
                <a:cs typeface="Arial"/>
              </a:rPr>
              <a:t>0 &lt; d &lt; D; Cd = 0.62 is assumed.</a:t>
            </a:r>
          </a:p>
        </p:txBody>
      </p:sp>
    </p:spTree>
    <p:extLst>
      <p:ext uri="{BB962C8B-B14F-4D97-AF65-F5344CB8AC3E}">
        <p14:creationId xmlns:p14="http://schemas.microsoft.com/office/powerpoint/2010/main" val="20592564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6228bf8311a4628"/>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5BA1C8A-EEA9-4755-BA47-C0AB6AAE0DD0}"/>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Pump and Facility Heat-Exchanger Balance</a:t>
            </a:r>
          </a:p>
        </p:txBody>
      </p:sp>
      <p:sp>
        <p:nvSpPr>
          <p:cNvPr id="3" name="">
            <a:extLst xmlns:a="http://schemas.openxmlformats.org/drawingml/2006/main">
              <a:ext uri="{FF2B5EF4-FFF2-40B4-BE49-F238E27FC236}">
                <a16:creationId xmlns:a16="http://schemas.microsoft.com/office/drawing/2014/main" id="{8F0EED84-5EC8-493D-996E-61389035A8A1}"/>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BFF8941C-50FD-4BD1-8729-D42EBBEC34EF}"/>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c6cd6b866d34434"/>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220AC3C-CFAD-4301-BA9A-A6B4199A2AE0}"/>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DB50A2AD-3E9C-4E81-A3A5-E4ABA96AED98}"/>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sp>
        <p:nvSpPr>
          <p:cNvPr id="8" name="">
            <a:extLst xmlns:a="http://schemas.openxmlformats.org/drawingml/2006/main">
              <a:ext uri="{FF2B5EF4-FFF2-40B4-BE49-F238E27FC236}">
                <a16:creationId xmlns:a16="http://schemas.microsoft.com/office/drawing/2014/main" id="{5B5A25D3-7EDF-4EE5-AB5D-E94B21E21B2F}"/>
              </a:ext>
            </a:extLst>
          </p:cNvPr>
          <p:cNvSpPr>
            <a:spLocks xmlns:a="http://schemas.openxmlformats.org/drawingml/2006/main" noGrp="1"/>
          </p:cNvSpPr>
          <p:nvPr/>
        </p:nvSpPr>
        <p:spPr>
          <a:xfrm xmlns:a="http://schemas.openxmlformats.org/drawingml/2006/main">
            <a:off x="419100" y="1000125"/>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Pump operating point and electrical power</a:t>
            </a:r>
          </a:p>
        </p:txBody>
      </p:sp>
      <p:sp>
        <p:nvSpPr>
          <p:cNvPr id="9" name="">
            <a:extLst xmlns:a="http://schemas.openxmlformats.org/drawingml/2006/main">
              <a:ext uri="{FF2B5EF4-FFF2-40B4-BE49-F238E27FC236}">
                <a16:creationId xmlns:a16="http://schemas.microsoft.com/office/drawing/2014/main" id="{D36D49BF-1FD2-4F2F-A9A8-20B9E6B96F44}"/>
              </a:ext>
            </a:extLst>
          </p:cNvPr>
          <p:cNvSpPr>
            <a:spLocks xmlns:a="http://schemas.openxmlformats.org/drawingml/2006/main" noGrp="1"/>
          </p:cNvSpPr>
          <p:nvPr/>
        </p:nvSpPr>
        <p:spPr>
          <a:xfrm xmlns:a="http://schemas.openxmlformats.org/drawingml/2006/main">
            <a:off x="419100" y="132397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Δppump = Δp0 N² − aV̇² = Δpsystem        Pe = Δp V̇ / η</a:t>
            </a:r>
          </a:p>
        </p:txBody>
      </p:sp>
      <p:sp>
        <p:nvSpPr>
          <p:cNvPr id="10" name="">
            <a:extLst xmlns:a="http://schemas.openxmlformats.org/drawingml/2006/main">
              <a:ext uri="{FF2B5EF4-FFF2-40B4-BE49-F238E27FC236}">
                <a16:creationId xmlns:a16="http://schemas.microsoft.com/office/drawing/2014/main" id="{74A6A908-5282-4E47-865C-48F1694863D6}"/>
              </a:ext>
            </a:extLst>
          </p:cNvPr>
          <p:cNvSpPr>
            <a:spLocks xmlns:a="http://schemas.openxmlformats.org/drawingml/2006/main" noGrp="1"/>
          </p:cNvSpPr>
          <p:nvPr/>
        </p:nvSpPr>
        <p:spPr>
          <a:xfrm xmlns:a="http://schemas.openxmlformats.org/drawingml/2006/main">
            <a:off x="419100" y="1800225"/>
            <a:ext cx="8267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95001A"/>
                </a:solidFill>
                <a:latin typeface="Arial"/>
                <a:ea typeface="Arial"/>
                <a:cs typeface="Arial"/>
              </a:defRPr>
            </a:pPr>
            <a:r>
              <a:rPr sz="1500" b="0">
                <a:solidFill>
                  <a:srgbClr val="95001A"/>
                </a:solidFill>
                <a:latin typeface="Arial"/>
                <a:ea typeface="Arial"/>
                <a:cs typeface="Arial"/>
              </a:rPr>
              <a:t>Fixed-flow mode evaluates the head required. Pump mode solves the curve intersection.</a:t>
            </a:r>
          </a:p>
        </p:txBody>
      </p:sp>
      <p:sp>
        <p:nvSpPr>
          <p:cNvPr id="11" name="">
            <a:extLst xmlns:a="http://schemas.openxmlformats.org/drawingml/2006/main">
              <a:ext uri="{FF2B5EF4-FFF2-40B4-BE49-F238E27FC236}">
                <a16:creationId xmlns:a16="http://schemas.microsoft.com/office/drawing/2014/main" id="{4EA5FF69-8DD2-4D34-A7E0-A7F790E4211F}"/>
              </a:ext>
            </a:extLst>
          </p:cNvPr>
          <p:cNvSpPr>
            <a:spLocks xmlns:a="http://schemas.openxmlformats.org/drawingml/2006/main" noGrp="1"/>
          </p:cNvSpPr>
          <p:nvPr/>
        </p:nvSpPr>
        <p:spPr>
          <a:xfrm xmlns:a="http://schemas.openxmlformats.org/drawingml/2006/main">
            <a:off x="419100" y="2286000"/>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Facility water removes the rack heat</a:t>
            </a:r>
          </a:p>
        </p:txBody>
      </p:sp>
      <p:sp>
        <p:nvSpPr>
          <p:cNvPr id="12" name="">
            <a:extLst xmlns:a="http://schemas.openxmlformats.org/drawingml/2006/main">
              <a:ext uri="{FF2B5EF4-FFF2-40B4-BE49-F238E27FC236}">
                <a16:creationId xmlns:a16="http://schemas.microsoft.com/office/drawing/2014/main" id="{1C05A7BE-9032-4BBC-A8E4-F043781AD0E7}"/>
              </a:ext>
            </a:extLst>
          </p:cNvPr>
          <p:cNvSpPr>
            <a:spLocks xmlns:a="http://schemas.openxmlformats.org/drawingml/2006/main" noGrp="1"/>
          </p:cNvSpPr>
          <p:nvPr/>
        </p:nvSpPr>
        <p:spPr>
          <a:xfrm xmlns:a="http://schemas.openxmlformats.org/drawingml/2006/main">
            <a:off x="419100" y="2609850"/>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Q̇HX = Σ Q̇i = ṁFWS [h(TFWS,out) − h(TFWS,in)]</a:t>
            </a:r>
          </a:p>
        </p:txBody>
      </p:sp>
      <p:sp>
        <p:nvSpPr>
          <p:cNvPr id="13" name="">
            <a:extLst xmlns:a="http://schemas.openxmlformats.org/drawingml/2006/main">
              <a:ext uri="{FF2B5EF4-FFF2-40B4-BE49-F238E27FC236}">
                <a16:creationId xmlns:a16="http://schemas.microsoft.com/office/drawing/2014/main" id="{BD9348BF-7999-4043-8B34-3BDCF692D189}"/>
              </a:ext>
            </a:extLst>
          </p:cNvPr>
          <p:cNvSpPr>
            <a:spLocks xmlns:a="http://schemas.openxmlformats.org/drawingml/2006/main" noGrp="1"/>
          </p:cNvSpPr>
          <p:nvPr/>
        </p:nvSpPr>
        <p:spPr>
          <a:xfrm xmlns:a="http://schemas.openxmlformats.org/drawingml/2006/main">
            <a:off x="419100" y="3305175"/>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Heat-exchanger conductance required</a:t>
            </a:r>
          </a:p>
        </p:txBody>
      </p:sp>
      <p:sp>
        <p:nvSpPr>
          <p:cNvPr id="14" name="">
            <a:extLst xmlns:a="http://schemas.openxmlformats.org/drawingml/2006/main">
              <a:ext uri="{FF2B5EF4-FFF2-40B4-BE49-F238E27FC236}">
                <a16:creationId xmlns:a16="http://schemas.microsoft.com/office/drawing/2014/main" id="{4B9A8CEE-5DB5-4A66-90CC-C369D6787212}"/>
              </a:ext>
            </a:extLst>
          </p:cNvPr>
          <p:cNvSpPr>
            <a:spLocks xmlns:a="http://schemas.openxmlformats.org/drawingml/2006/main" noGrp="1"/>
          </p:cNvSpPr>
          <p:nvPr/>
        </p:nvSpPr>
        <p:spPr>
          <a:xfrm xmlns:a="http://schemas.openxmlformats.org/drawingml/2006/main">
            <a:off x="419100" y="362902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UArequired = Q̇HX / ΔTlm        ΔTlm = (ΔT1 − ΔT2) / ln(ΔT1/ΔT2)</a:t>
            </a:r>
          </a:p>
        </p:txBody>
      </p:sp>
    </p:spTree>
    <p:extLst>
      <p:ext uri="{BB962C8B-B14F-4D97-AF65-F5344CB8AC3E}">
        <p14:creationId xmlns:p14="http://schemas.microsoft.com/office/powerpoint/2010/main" val="56316688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733d143d87044d1"/>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FFE35FF-7CD3-4CBE-A2EA-8FEC7E40C2BF}"/>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Flow Redistribution Matches Cooling Demand</a:t>
            </a:r>
          </a:p>
        </p:txBody>
      </p:sp>
      <p:sp>
        <p:nvSpPr>
          <p:cNvPr id="3" name="">
            <a:extLst xmlns:a="http://schemas.openxmlformats.org/drawingml/2006/main">
              <a:ext uri="{FF2B5EF4-FFF2-40B4-BE49-F238E27FC236}">
                <a16:creationId xmlns:a16="http://schemas.microsoft.com/office/drawing/2014/main" id="{976F07CE-5BEA-4B75-A4D3-0A5F698DEC00}"/>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3B5C76A2-23A6-499A-89E6-A9387C5C03BE}"/>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a5e87d792004890"/>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CC72207-EDCA-4CA3-8D41-1C708D7645E5}"/>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0F2F03AA-17FC-43E4-A0F2-230612CEE892}"/>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graphicFrame>
        <p:nvGraphicFramePr>
          <p:cNvPr id="19" name="Chart"/>
          <p:cNvGraphicFramePr/>
          <p:nvPr/>
        </p:nvGraphicFramePr>
        <p:xfrm>
          <a:off xmlns:a="http://schemas.openxmlformats.org/drawingml/2006/main" x="523875" y="1200150"/>
          <a:ext xmlns:a="http://schemas.openxmlformats.org/drawingml/2006/main" cx="5715000" cy="2847975"/>
        </p:xfrm>
        <a:graphic xmlns:a="http://schemas.openxmlformats.org/drawingml/2006/main">
          <a:graphicData uri="http://schemas.openxmlformats.org/drawingml/2006/chart">
            <c:chart xmlns:r="http://schemas.openxmlformats.org/officeDocument/2006/relationships" xmlns:c="http://schemas.openxmlformats.org/drawingml/2006/chart" r:id="Rd846b575c3ac4740"/>
          </a:graphicData>
        </a:graphic>
      </p:graphicFrame>
      <p:sp>
        <p:nvSpPr>
          <p:cNvPr id="9" name="">
            <a:extLst xmlns:a="http://schemas.openxmlformats.org/drawingml/2006/main">
              <a:ext uri="{FF2B5EF4-FFF2-40B4-BE49-F238E27FC236}">
                <a16:creationId xmlns:a16="http://schemas.microsoft.com/office/drawing/2014/main" id="{789E8B45-E5AE-4C52-8248-833919240F20}"/>
              </a:ext>
            </a:extLst>
          </p:cNvPr>
          <p:cNvSpPr>
            <a:spLocks xmlns:a="http://schemas.openxmlformats.org/drawingml/2006/main" noGrp="1"/>
          </p:cNvSpPr>
          <p:nvPr/>
        </p:nvSpPr>
        <p:spPr>
          <a:xfrm xmlns:a="http://schemas.openxmlformats.org/drawingml/2006/main">
            <a:off x="6524625" y="1247775"/>
            <a:ext cx="228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144D"/>
                </a:solidFill>
                <a:latin typeface="Arial"/>
                <a:ea typeface="Arial"/>
                <a:cs typeface="Arial"/>
              </a:defRPr>
            </a:pPr>
            <a:r>
              <a:rPr sz="1875" b="1">
                <a:solidFill>
                  <a:srgbClr val="00144D"/>
                </a:solidFill>
                <a:latin typeface="Arial"/>
                <a:ea typeface="Arial"/>
                <a:cs typeface="Arial"/>
              </a:rPr>
              <a:t>Same total flow</a:t>
            </a:r>
          </a:p>
        </p:txBody>
      </p:sp>
      <p:sp>
        <p:nvSpPr>
          <p:cNvPr id="10" name="">
            <a:extLst xmlns:a="http://schemas.openxmlformats.org/drawingml/2006/main">
              <a:ext uri="{FF2B5EF4-FFF2-40B4-BE49-F238E27FC236}">
                <a16:creationId xmlns:a16="http://schemas.microsoft.com/office/drawing/2014/main" id="{6B631F06-350F-4EB7-8F55-F78867840B61}"/>
              </a:ext>
            </a:extLst>
          </p:cNvPr>
          <p:cNvSpPr>
            <a:spLocks xmlns:a="http://schemas.openxmlformats.org/drawingml/2006/main" noGrp="1"/>
          </p:cNvSpPr>
          <p:nvPr/>
        </p:nvSpPr>
        <p:spPr>
          <a:xfrm xmlns:a="http://schemas.openxmlformats.org/drawingml/2006/main">
            <a:off x="6524625" y="1724025"/>
            <a:ext cx="21717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242B35"/>
                </a:solidFill>
                <a:latin typeface="Arial"/>
                <a:ea typeface="Arial"/>
                <a:cs typeface="Arial"/>
              </a:defRPr>
            </a:pPr>
            <a:r>
              <a:rPr sz="1650" b="0">
                <a:solidFill>
                  <a:srgbClr val="242B35"/>
                </a:solidFill>
                <a:latin typeface="Arial"/>
                <a:ea typeface="Arial"/>
                <a:cs typeface="Arial"/>
              </a:rPr>
              <a:t>Restricting over-supplied switch branches redirects coolant to compute trays.</a:t>
            </a:r>
          </a:p>
        </p:txBody>
      </p:sp>
      <p:sp>
        <p:nvSpPr>
          <p:cNvPr id="11" name="">
            <a:extLst xmlns:a="http://schemas.openxmlformats.org/drawingml/2006/main">
              <a:ext uri="{FF2B5EF4-FFF2-40B4-BE49-F238E27FC236}">
                <a16:creationId xmlns:a16="http://schemas.microsoft.com/office/drawing/2014/main" id="{32902D49-FAAB-41B9-B449-4F020E8FA725}"/>
              </a:ext>
            </a:extLst>
          </p:cNvPr>
          <p:cNvSpPr>
            <a:spLocks xmlns:a="http://schemas.openxmlformats.org/drawingml/2006/main" noGrp="1"/>
          </p:cNvSpPr>
          <p:nvPr/>
        </p:nvSpPr>
        <p:spPr>
          <a:xfrm xmlns:a="http://schemas.openxmlformats.org/drawingml/2006/main">
            <a:off x="6524625" y="3114675"/>
            <a:ext cx="2209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95001A"/>
                </a:solidFill>
                <a:latin typeface="Arial"/>
                <a:ea typeface="Arial"/>
                <a:cs typeface="Arial"/>
              </a:defRPr>
            </a:pPr>
            <a:r>
              <a:rPr sz="1650" b="0">
                <a:solidFill>
                  <a:srgbClr val="95001A"/>
                </a:solidFill>
                <a:latin typeface="Arial"/>
                <a:ea typeface="Arial"/>
                <a:cs typeface="Arial"/>
              </a:rPr>
              <a:t>Equal flow is not the objective: the modeled compute heat load is 4.68× larger.</a:t>
            </a:r>
          </a:p>
        </p:txBody>
      </p:sp>
    </p:spTree>
    <p:extLst>
      <p:ext uri="{BB962C8B-B14F-4D97-AF65-F5344CB8AC3E}">
        <p14:creationId xmlns:p14="http://schemas.microsoft.com/office/powerpoint/2010/main" val="6633082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0588259062d4793"/>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3064C2E-2268-4DC2-9AE0-254FE73447BF}"/>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Better Distribution Requires More Pumping</a:t>
            </a:r>
          </a:p>
        </p:txBody>
      </p:sp>
      <p:sp>
        <p:nvSpPr>
          <p:cNvPr id="3" name="">
            <a:extLst xmlns:a="http://schemas.openxmlformats.org/drawingml/2006/main">
              <a:ext uri="{FF2B5EF4-FFF2-40B4-BE49-F238E27FC236}">
                <a16:creationId xmlns:a16="http://schemas.microsoft.com/office/drawing/2014/main" id="{D08520E9-4667-4937-A430-250CBDD4BAE2}"/>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5B3103A3-C525-4697-84C5-FB442C943D99}"/>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9da5ec74ae54a6f"/>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4D4C05D-8271-4CD6-B162-58A951BC9124}"/>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0F1331A7-DA01-4790-B5F8-C8A7F277650C}"/>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graphicFrame>
        <p:nvGraphicFramePr>
          <p:cNvPr id="18" name=""/>
          <p:cNvGraphicFramePr/>
          <p:nvPr/>
        </p:nvGraphicFramePr>
        <p:xfrm>
          <a:off xmlns:a="http://schemas.openxmlformats.org/drawingml/2006/main" x="400050" y="1009650"/>
          <a:ext xmlns:a="http://schemas.openxmlformats.org/drawingml/2006/main" cx="8334375" cy="2876550"/>
        </p:xfrm>
        <a:graphic xmlns:a="http://schemas.openxmlformats.org/drawingml/2006/main">
          <a:graphicData uri="http://schemas.openxmlformats.org/drawingml/2006/table">
            <a:tbl>
              <a:tblPr/>
              <a:tblGrid>
                <a:gridCol w="4067175"/>
                <a:gridCol w="2133600"/>
                <a:gridCol w="2133600"/>
              </a:tblGrid>
              <a:tr h="410936">
                <a:tc>
                  <a:txBody>
                    <a:bodyPr/>
                    <a:lstStyle/>
                    <a:p>
                      <a:r>
                        <a:rPr sz="1575" b="1">
                          <a:solidFill>
                            <a:srgbClr val="00144D"/>
                          </a:solidFill>
                          <a:latin typeface="Arial"/>
                          <a:ea typeface="Arial"/>
                          <a:cs typeface="Arial"/>
                        </a:rPr>
                        <a:t>Metric</a:t>
                      </a:r>
                    </a:p>
                  </a:txBody>
                  <a:tcPr marL="85725" marR="76200" marT="38100" marB="38100" anchor="ctr">
                    <a:solidFill>
                      <a:srgbClr val="E9EEF5"/>
                    </a:solidFill>
                  </a:tcPr>
                </a:tc>
                <a:tc>
                  <a:txBody>
                    <a:bodyPr/>
                    <a:lstStyle/>
                    <a:p>
                      <a:r>
                        <a:rPr sz="1575" b="1">
                          <a:solidFill>
                            <a:srgbClr val="00144D"/>
                          </a:solidFill>
                          <a:latin typeface="Arial"/>
                          <a:ea typeface="Arial"/>
                          <a:cs typeface="Arial"/>
                        </a:rPr>
                        <a:t>Reference</a:t>
                      </a:r>
                    </a:p>
                  </a:txBody>
                  <a:tcPr marL="85725" marR="76200" marT="38100" marB="38100" anchor="ctr">
                    <a:solidFill>
                      <a:srgbClr val="E9EEF5"/>
                    </a:solidFill>
                  </a:tcPr>
                </a:tc>
                <a:tc>
                  <a:txBody>
                    <a:bodyPr/>
                    <a:lstStyle/>
                    <a:p>
                      <a:r>
                        <a:rPr sz="1575" b="1">
                          <a:solidFill>
                            <a:srgbClr val="00144D"/>
                          </a:solidFill>
                          <a:latin typeface="Arial"/>
                          <a:ea typeface="Arial"/>
                          <a:cs typeface="Arial"/>
                        </a:rPr>
                        <a:t>Balanced</a:t>
                      </a:r>
                    </a:p>
                  </a:txBody>
                  <a:tcPr marL="85725" marR="76200" marT="38100" marB="38100" anchor="ctr">
                    <a:solidFill>
                      <a:srgbClr val="E9EEF5"/>
                    </a:solidFill>
                  </a:tcPr>
                </a:tc>
              </a:tr>
              <a:tr h="410936">
                <a:tc>
                  <a:txBody>
                    <a:bodyPr/>
                    <a:lstStyle/>
                    <a:p>
                      <a:r>
                        <a:rPr sz="1575">
                          <a:solidFill>
                            <a:srgbClr val="242B35"/>
                          </a:solidFill>
                          <a:latin typeface="Arial"/>
                          <a:ea typeface="Arial"/>
                          <a:cs typeface="Arial"/>
                        </a:rPr>
                        <a:t>RMS flow-target error</a:t>
                      </a:r>
                    </a:p>
                  </a:txBody>
                  <a:tcPr marL="85725" marR="76200" marT="38100" marB="38100" anchor="ctr">
                    <a:solidFill>
                      <a:srgbClr val="FFFFFF"/>
                    </a:solidFill>
                  </a:tcPr>
                </a:tc>
                <a:tc>
                  <a:txBody>
                    <a:bodyPr/>
                    <a:lstStyle/>
                    <a:p>
                      <a:r>
                        <a:rPr sz="1575">
                          <a:solidFill>
                            <a:srgbClr val="242B35"/>
                          </a:solidFill>
                          <a:latin typeface="Arial"/>
                          <a:ea typeface="Arial"/>
                          <a:cs typeface="Arial"/>
                        </a:rPr>
                        <a:t>73.49%</a:t>
                      </a:r>
                    </a:p>
                  </a:txBody>
                  <a:tcPr marL="85725" marR="76200" marT="38100" marB="38100" anchor="ctr">
                    <a:solidFill>
                      <a:srgbClr val="FFFFFF"/>
                    </a:solidFill>
                  </a:tcPr>
                </a:tc>
                <a:tc>
                  <a:txBody>
                    <a:bodyPr/>
                    <a:lstStyle/>
                    <a:p>
                      <a:r>
                        <a:rPr sz="1575">
                          <a:solidFill>
                            <a:srgbClr val="242B35"/>
                          </a:solidFill>
                          <a:latin typeface="Arial"/>
                          <a:ea typeface="Arial"/>
                          <a:cs typeface="Arial"/>
                        </a:rPr>
                        <a:t>0.44%</a:t>
                      </a:r>
                    </a:p>
                  </a:txBody>
                  <a:tcPr marL="85725" marR="76200" marT="38100" marB="38100" anchor="ctr">
                    <a:solidFill>
                      <a:srgbClr val="FFFFFF"/>
                    </a:solidFill>
                  </a:tcPr>
                </a:tc>
              </a:tr>
              <a:tr h="410936">
                <a:tc>
                  <a:txBody>
                    <a:bodyPr/>
                    <a:lstStyle/>
                    <a:p>
                      <a:r>
                        <a:rPr sz="1575">
                          <a:solidFill>
                            <a:srgbClr val="242B35"/>
                          </a:solidFill>
                          <a:latin typeface="Arial"/>
                          <a:ea typeface="Arial"/>
                          <a:cs typeface="Arial"/>
                        </a:rPr>
                        <a:t>Maximum tray outlet</a:t>
                      </a:r>
                    </a:p>
                  </a:txBody>
                  <a:tcPr marL="85725" marR="76200" marT="38100" marB="38100" anchor="ctr">
                    <a:solidFill>
                      <a:srgbClr val="F5F6F8"/>
                    </a:solidFill>
                  </a:tcPr>
                </a:tc>
                <a:tc>
                  <a:txBody>
                    <a:bodyPr/>
                    <a:lstStyle/>
                    <a:p>
                      <a:r>
                        <a:rPr sz="1575">
                          <a:solidFill>
                            <a:srgbClr val="242B35"/>
                          </a:solidFill>
                          <a:latin typeface="Arial"/>
                          <a:ea typeface="Arial"/>
                          <a:cs typeface="Arial"/>
                        </a:rPr>
                        <a:t>55.97 °C</a:t>
                      </a:r>
                    </a:p>
                  </a:txBody>
                  <a:tcPr marL="85725" marR="76200" marT="38100" marB="38100" anchor="ctr">
                    <a:solidFill>
                      <a:srgbClr val="F5F6F8"/>
                    </a:solidFill>
                  </a:tcPr>
                </a:tc>
                <a:tc>
                  <a:txBody>
                    <a:bodyPr/>
                    <a:lstStyle/>
                    <a:p>
                      <a:r>
                        <a:rPr sz="1575">
                          <a:solidFill>
                            <a:srgbClr val="242B35"/>
                          </a:solidFill>
                          <a:latin typeface="Arial"/>
                          <a:ea typeface="Arial"/>
                          <a:cs typeface="Arial"/>
                        </a:rPr>
                        <a:t>53.80 °C</a:t>
                      </a:r>
                    </a:p>
                  </a:txBody>
                  <a:tcPr marL="85725" marR="76200" marT="38100" marB="38100" anchor="ctr">
                    <a:solidFill>
                      <a:srgbClr val="F5F6F8"/>
                    </a:solidFill>
                  </a:tcPr>
                </a:tc>
              </a:tr>
              <a:tr h="410936">
                <a:tc>
                  <a:txBody>
                    <a:bodyPr/>
                    <a:lstStyle/>
                    <a:p>
                      <a:r>
                        <a:rPr sz="1575">
                          <a:solidFill>
                            <a:srgbClr val="242B35"/>
                          </a:solidFill>
                          <a:latin typeface="Arial"/>
                          <a:ea typeface="Arial"/>
                          <a:cs typeface="Arial"/>
                        </a:rPr>
                        <a:t>Tray outlet temperature spread</a:t>
                      </a:r>
                    </a:p>
                  </a:txBody>
                  <a:tcPr marL="85725" marR="76200" marT="38100" marB="38100" anchor="ctr">
                    <a:solidFill>
                      <a:srgbClr val="FFFFFF"/>
                    </a:solidFill>
                  </a:tcPr>
                </a:tc>
                <a:tc>
                  <a:txBody>
                    <a:bodyPr/>
                    <a:lstStyle/>
                    <a:p>
                      <a:r>
                        <a:rPr sz="1575">
                          <a:solidFill>
                            <a:srgbClr val="242B35"/>
                          </a:solidFill>
                          <a:latin typeface="Arial"/>
                          <a:ea typeface="Arial"/>
                          <a:cs typeface="Arial"/>
                        </a:rPr>
                        <a:t>9.90 K</a:t>
                      </a:r>
                    </a:p>
                  </a:txBody>
                  <a:tcPr marL="85725" marR="76200" marT="38100" marB="38100" anchor="ctr">
                    <a:solidFill>
                      <a:srgbClr val="FFFFFF"/>
                    </a:solidFill>
                  </a:tcPr>
                </a:tc>
                <a:tc>
                  <a:txBody>
                    <a:bodyPr/>
                    <a:lstStyle/>
                    <a:p>
                      <a:r>
                        <a:rPr sz="1575">
                          <a:solidFill>
                            <a:srgbClr val="242B35"/>
                          </a:solidFill>
                          <a:latin typeface="Arial"/>
                          <a:ea typeface="Arial"/>
                          <a:cs typeface="Arial"/>
                        </a:rPr>
                        <a:t>0.21 K</a:t>
                      </a:r>
                    </a:p>
                  </a:txBody>
                  <a:tcPr marL="85725" marR="76200" marT="38100" marB="38100" anchor="ctr">
                    <a:solidFill>
                      <a:srgbClr val="FFFFFF"/>
                    </a:solidFill>
                  </a:tcPr>
                </a:tc>
              </a:tr>
              <a:tr h="410936">
                <a:tc>
                  <a:txBody>
                    <a:bodyPr/>
                    <a:lstStyle/>
                    <a:p>
                      <a:r>
                        <a:rPr sz="1575">
                          <a:solidFill>
                            <a:srgbClr val="242B35"/>
                          </a:solidFill>
                          <a:latin typeface="Arial"/>
                          <a:ea typeface="Arial"/>
                          <a:cs typeface="Arial"/>
                        </a:rPr>
                        <a:t>Required system pressure</a:t>
                      </a:r>
                    </a:p>
                  </a:txBody>
                  <a:tcPr marL="85725" marR="76200" marT="38100" marB="38100" anchor="ctr">
                    <a:solidFill>
                      <a:srgbClr val="F5F6F8"/>
                    </a:solidFill>
                  </a:tcPr>
                </a:tc>
                <a:tc>
                  <a:txBody>
                    <a:bodyPr/>
                    <a:lstStyle/>
                    <a:p>
                      <a:r>
                        <a:rPr sz="1575">
                          <a:solidFill>
                            <a:srgbClr val="242B35"/>
                          </a:solidFill>
                          <a:latin typeface="Arial"/>
                          <a:ea typeface="Arial"/>
                          <a:cs typeface="Arial"/>
                        </a:rPr>
                        <a:t>79.83 kPa</a:t>
                      </a:r>
                    </a:p>
                  </a:txBody>
                  <a:tcPr marL="85725" marR="76200" marT="38100" marB="38100" anchor="ctr">
                    <a:solidFill>
                      <a:srgbClr val="F5F6F8"/>
                    </a:solidFill>
                  </a:tcPr>
                </a:tc>
                <a:tc>
                  <a:txBody>
                    <a:bodyPr/>
                    <a:lstStyle/>
                    <a:p>
                      <a:r>
                        <a:rPr sz="1575">
                          <a:solidFill>
                            <a:srgbClr val="242B35"/>
                          </a:solidFill>
                          <a:latin typeface="Arial"/>
                          <a:ea typeface="Arial"/>
                          <a:cs typeface="Arial"/>
                        </a:rPr>
                        <a:t>105.09 kPa</a:t>
                      </a:r>
                    </a:p>
                  </a:txBody>
                  <a:tcPr marL="85725" marR="76200" marT="38100" marB="38100" anchor="ctr">
                    <a:solidFill>
                      <a:srgbClr val="F5F6F8"/>
                    </a:solidFill>
                  </a:tcPr>
                </a:tc>
              </a:tr>
              <a:tr h="410936">
                <a:tc>
                  <a:txBody>
                    <a:bodyPr/>
                    <a:lstStyle/>
                    <a:p>
                      <a:r>
                        <a:rPr sz="1575">
                          <a:solidFill>
                            <a:srgbClr val="242B35"/>
                          </a:solidFill>
                          <a:latin typeface="Arial"/>
                          <a:ea typeface="Arial"/>
                          <a:cs typeface="Arial"/>
                        </a:rPr>
                        <a:t>Modeled pump electrical power</a:t>
                      </a:r>
                    </a:p>
                  </a:txBody>
                  <a:tcPr marL="85725" marR="76200" marT="38100" marB="38100" anchor="ctr">
                    <a:solidFill>
                      <a:srgbClr val="FFFFFF"/>
                    </a:solidFill>
                  </a:tcPr>
                </a:tc>
                <a:tc>
                  <a:txBody>
                    <a:bodyPr/>
                    <a:lstStyle/>
                    <a:p>
                      <a:r>
                        <a:rPr sz="1575">
                          <a:solidFill>
                            <a:srgbClr val="242B35"/>
                          </a:solidFill>
                          <a:latin typeface="Arial"/>
                          <a:ea typeface="Arial"/>
                          <a:cs typeface="Arial"/>
                        </a:rPr>
                        <a:t>266.1 W</a:t>
                      </a:r>
                    </a:p>
                  </a:txBody>
                  <a:tcPr marL="85725" marR="76200" marT="38100" marB="38100" anchor="ctr">
                    <a:solidFill>
                      <a:srgbClr val="FFFFFF"/>
                    </a:solidFill>
                  </a:tcPr>
                </a:tc>
                <a:tc>
                  <a:txBody>
                    <a:bodyPr/>
                    <a:lstStyle/>
                    <a:p>
                      <a:r>
                        <a:rPr sz="1575">
                          <a:solidFill>
                            <a:srgbClr val="242B35"/>
                          </a:solidFill>
                          <a:latin typeface="Arial"/>
                          <a:ea typeface="Arial"/>
                          <a:cs typeface="Arial"/>
                        </a:rPr>
                        <a:t>350.3 W</a:t>
                      </a:r>
                    </a:p>
                  </a:txBody>
                  <a:tcPr marL="85725" marR="76200" marT="38100" marB="38100" anchor="ctr">
                    <a:solidFill>
                      <a:srgbClr val="FFFFFF"/>
                    </a:solidFill>
                  </a:tcPr>
                </a:tc>
              </a:tr>
              <a:tr h="410936">
                <a:tc>
                  <a:txBody>
                    <a:bodyPr/>
                    <a:lstStyle/>
                    <a:p>
                      <a:r>
                        <a:rPr sz="1575">
                          <a:solidFill>
                            <a:srgbClr val="242B35"/>
                          </a:solidFill>
                          <a:latin typeface="Arial"/>
                          <a:ea typeface="Arial"/>
                          <a:cs typeface="Arial"/>
                        </a:rPr>
                        <a:t>Mixed rack return temperature</a:t>
                      </a:r>
                    </a:p>
                  </a:txBody>
                  <a:tcPr marL="85725" marR="76200" marT="38100" marB="38100" anchor="ctr">
                    <a:solidFill>
                      <a:srgbClr val="F5F6F8"/>
                    </a:solidFill>
                  </a:tcPr>
                </a:tc>
                <a:tc>
                  <a:txBody>
                    <a:bodyPr/>
                    <a:lstStyle/>
                    <a:p>
                      <a:r>
                        <a:rPr sz="1575">
                          <a:solidFill>
                            <a:srgbClr val="242B35"/>
                          </a:solidFill>
                          <a:latin typeface="Arial"/>
                          <a:ea typeface="Arial"/>
                          <a:cs typeface="Arial"/>
                        </a:rPr>
                        <a:t>53.73 °C</a:t>
                      </a:r>
                    </a:p>
                  </a:txBody>
                  <a:tcPr marL="85725" marR="76200" marT="38100" marB="38100" anchor="ctr">
                    <a:solidFill>
                      <a:srgbClr val="F5F6F8"/>
                    </a:solidFill>
                  </a:tcPr>
                </a:tc>
                <a:tc>
                  <a:txBody>
                    <a:bodyPr/>
                    <a:lstStyle/>
                    <a:p>
                      <a:r>
                        <a:rPr sz="1575">
                          <a:solidFill>
                            <a:srgbClr val="242B35"/>
                          </a:solidFill>
                          <a:latin typeface="Arial"/>
                          <a:ea typeface="Arial"/>
                          <a:cs typeface="Arial"/>
                        </a:rPr>
                        <a:t>53.73 °C</a:t>
                      </a:r>
                    </a:p>
                  </a:txBody>
                  <a:tcPr marL="85725" marR="76200" marT="38100" marB="38100" anchor="ctr">
                    <a:solidFill>
                      <a:srgbClr val="F5F6F8"/>
                    </a:solidFill>
                  </a:tcPr>
                </a:tc>
              </a:tr>
            </a:tbl>
          </a:graphicData>
        </a:graphic>
      </p:graphicFrame>
      <p:sp>
        <p:nvSpPr>
          <p:cNvPr id="9" name="">
            <a:extLst xmlns:a="http://schemas.openxmlformats.org/drawingml/2006/main">
              <a:ext uri="{FF2B5EF4-FFF2-40B4-BE49-F238E27FC236}">
                <a16:creationId xmlns:a16="http://schemas.microsoft.com/office/drawing/2014/main" id="{A2A024B4-C387-47F0-AEA8-A7159C3A16E1}"/>
              </a:ext>
            </a:extLst>
          </p:cNvPr>
          <p:cNvSpPr>
            <a:spLocks xmlns:a="http://schemas.openxmlformats.org/drawingml/2006/main" noGrp="1"/>
          </p:cNvSpPr>
          <p:nvPr/>
        </p:nvSpPr>
        <p:spPr>
          <a:xfrm xmlns:a="http://schemas.openxmlformats.org/drawingml/2006/main">
            <a:off x="409575" y="3962400"/>
            <a:ext cx="8286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95001A"/>
                </a:solidFill>
                <a:latin typeface="Arial"/>
                <a:ea typeface="Arial"/>
                <a:cs typeface="Arial"/>
              </a:defRPr>
            </a:pPr>
            <a:r>
              <a:rPr sz="1650" b="1">
                <a:solidFill>
                  <a:srgbClr val="95001A"/>
                </a:solidFill>
                <a:latin typeface="Arial"/>
                <a:ea typeface="Arial"/>
                <a:cs typeface="Arial"/>
              </a:rPr>
              <a:t>Maximum outlet falls 2.17 K; pumping rises 84.2 W (+31.6%).</a:t>
            </a:r>
          </a:p>
        </p:txBody>
      </p:sp>
      <p:sp>
        <p:nvSpPr>
          <p:cNvPr id="10" name="">
            <a:extLst xmlns:a="http://schemas.openxmlformats.org/drawingml/2006/main">
              <a:ext uri="{FF2B5EF4-FFF2-40B4-BE49-F238E27FC236}">
                <a16:creationId xmlns:a16="http://schemas.microsoft.com/office/drawing/2014/main" id="{76173544-0244-41D6-8C49-81E031DAF180}"/>
              </a:ext>
            </a:extLst>
          </p:cNvPr>
          <p:cNvSpPr>
            <a:spLocks xmlns:a="http://schemas.openxmlformats.org/drawingml/2006/main" noGrp="1"/>
          </p:cNvSpPr>
          <p:nvPr/>
        </p:nvSpPr>
        <p:spPr>
          <a:xfrm xmlns:a="http://schemas.openxmlformats.org/drawingml/2006/main">
            <a:off x="409575" y="4210050"/>
            <a:ext cx="828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242B35"/>
                </a:solidFill>
                <a:latin typeface="Arial"/>
                <a:ea typeface="Arial"/>
                <a:cs typeface="Arial"/>
              </a:defRPr>
            </a:pPr>
            <a:r>
              <a:rPr sz="1275" b="0">
                <a:solidFill>
                  <a:srgbClr val="242B35"/>
                </a:solidFill>
                <a:latin typeface="Arial"/>
                <a:ea typeface="Arial"/>
                <a:cs typeface="Arial"/>
              </a:rPr>
              <a:t>Heat and total flow are unchanged, so the mixed return stays the same.</a:t>
            </a:r>
          </a:p>
        </p:txBody>
      </p:sp>
    </p:spTree>
    <p:extLst>
      <p:ext uri="{BB962C8B-B14F-4D97-AF65-F5344CB8AC3E}">
        <p14:creationId xmlns:p14="http://schemas.microsoft.com/office/powerpoint/2010/main" val="12241408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a52b1d8327c49b7"/>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0F1BEEC-AD39-49DC-9A80-631522FBBAED}"/>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Existing Code and Data to Reuse</a:t>
            </a:r>
          </a:p>
        </p:txBody>
      </p:sp>
      <p:sp>
        <p:nvSpPr>
          <p:cNvPr id="3" name="">
            <a:extLst xmlns:a="http://schemas.openxmlformats.org/drawingml/2006/main">
              <a:ext uri="{FF2B5EF4-FFF2-40B4-BE49-F238E27FC236}">
                <a16:creationId xmlns:a16="http://schemas.microsoft.com/office/drawing/2014/main" id="{3B79FAF6-172C-497E-9358-1903992F9433}"/>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C39095A2-FA3F-4F6C-B636-1E509E395F04}"/>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eb6d5dabff94cb4"/>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6AC8E7E-D12E-41D9-9326-B63665D5B860}"/>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13</a:t>
            </a:r>
          </a:p>
        </p:txBody>
      </p:sp>
      <p:sp>
        <p:nvSpPr>
          <p:cNvPr id="7" name="">
            <a:extLst xmlns:a="http://schemas.openxmlformats.org/drawingml/2006/main">
              <a:ext uri="{FF2B5EF4-FFF2-40B4-BE49-F238E27FC236}">
                <a16:creationId xmlns:a16="http://schemas.microsoft.com/office/drawing/2014/main" id="{0F01588B-CEF5-403B-A011-25F7649B0444}"/>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[5] [6] [7]  Sources and calculation details in speaker notes.</a:t>
            </a:r>
          </a:p>
        </p:txBody>
      </p:sp>
      <p:graphicFrame>
        <p:nvGraphicFramePr>
          <p:cNvPr id="18" name=""/>
          <p:cNvGraphicFramePr/>
          <p:nvPr/>
        </p:nvGraphicFramePr>
        <p:xfrm>
          <a:off xmlns:a="http://schemas.openxmlformats.org/drawingml/2006/main" x="400050" y="1076325"/>
          <a:ext xmlns:a="http://schemas.openxmlformats.org/drawingml/2006/main" cx="8334375" cy="2276475"/>
        </p:xfrm>
        <a:graphic xmlns:a="http://schemas.openxmlformats.org/drawingml/2006/main">
          <a:graphicData uri="http://schemas.openxmlformats.org/drawingml/2006/table">
            <a:tbl>
              <a:tblPr/>
              <a:tblGrid>
                <a:gridCol w="2476500"/>
                <a:gridCol w="3914775"/>
                <a:gridCol w="1943100"/>
              </a:tblGrid>
              <a:tr h="569119">
                <a:tc>
                  <a:txBody>
                    <a:bodyPr/>
                    <a:lstStyle/>
                    <a:p>
                      <a:r>
                        <a:rPr sz="1575" b="1">
                          <a:solidFill>
                            <a:srgbClr val="00144D"/>
                          </a:solidFill>
                          <a:latin typeface="Arial"/>
                          <a:ea typeface="Arial"/>
                          <a:cs typeface="Arial"/>
                        </a:rPr>
                        <a:t>Resource</a:t>
                      </a:r>
                    </a:p>
                  </a:txBody>
                  <a:tcPr marL="85725" marR="76200" marT="38100" marB="38100" anchor="ctr">
                    <a:solidFill>
                      <a:srgbClr val="E9EEF5"/>
                    </a:solidFill>
                  </a:tcPr>
                </a:tc>
                <a:tc>
                  <a:txBody>
                    <a:bodyPr/>
                    <a:lstStyle/>
                    <a:p>
                      <a:r>
                        <a:rPr sz="1575" b="1">
                          <a:solidFill>
                            <a:srgbClr val="00144D"/>
                          </a:solidFill>
                          <a:latin typeface="Arial"/>
                          <a:ea typeface="Arial"/>
                          <a:cs typeface="Arial"/>
                        </a:rPr>
                        <a:t>Role</a:t>
                      </a:r>
                    </a:p>
                  </a:txBody>
                  <a:tcPr marL="85725" marR="76200" marT="38100" marB="38100" anchor="ctr">
                    <a:solidFill>
                      <a:srgbClr val="E9EEF5"/>
                    </a:solidFill>
                  </a:tcPr>
                </a:tc>
                <a:tc>
                  <a:txBody>
                    <a:bodyPr/>
                    <a:lstStyle/>
                    <a:p>
                      <a:r>
                        <a:rPr sz="1575" b="1">
                          <a:solidFill>
                            <a:srgbClr val="00144D"/>
                          </a:solidFill>
                          <a:latin typeface="Arial"/>
                          <a:ea typeface="Arial"/>
                          <a:cs typeface="Arial"/>
                        </a:rPr>
                        <a:t>Status</a:t>
                      </a:r>
                    </a:p>
                  </a:txBody>
                  <a:tcPr marL="85725" marR="76200" marT="38100" marB="38100" anchor="ctr">
                    <a:solidFill>
                      <a:srgbClr val="E9EEF5"/>
                    </a:solidFill>
                  </a:tcPr>
                </a:tc>
              </a:tr>
              <a:tr h="569119">
                <a:tc>
                  <a:txBody>
                    <a:bodyPr/>
                    <a:lstStyle/>
                    <a:p>
                      <a:r>
                        <a:rPr sz="1575">
                          <a:solidFill>
                            <a:srgbClr val="242B35"/>
                          </a:solidFill>
                          <a:latin typeface="Arial"/>
                          <a:ea typeface="Arial"/>
                          <a:cs typeface="Arial"/>
                        </a:rPr>
                        <a:t>SciPy least_squares [6]</a:t>
                      </a:r>
                    </a:p>
                  </a:txBody>
                  <a:tcPr marL="85725" marR="76200" marT="38100" marB="38100" anchor="ctr">
                    <a:solidFill>
                      <a:srgbClr val="FFFFFF"/>
                    </a:solidFill>
                  </a:tcPr>
                </a:tc>
                <a:tc>
                  <a:txBody>
                    <a:bodyPr/>
                    <a:lstStyle/>
                    <a:p>
                      <a:r>
                        <a:rPr sz="1575">
                          <a:solidFill>
                            <a:srgbClr val="242B35"/>
                          </a:solidFill>
                          <a:latin typeface="Arial"/>
                          <a:ea typeface="Arial"/>
                          <a:cs typeface="Arial"/>
                        </a:rPr>
                        <a:t>Solve nonlinear hydraulic residuals with bounds</a:t>
                      </a:r>
                    </a:p>
                  </a:txBody>
                  <a:tcPr marL="85725" marR="76200" marT="38100" marB="38100" anchor="ctr">
                    <a:solidFill>
                      <a:srgbClr val="FFFFFF"/>
                    </a:solidFill>
                  </a:tcPr>
                </a:tc>
                <a:tc>
                  <a:txBody>
                    <a:bodyPr/>
                    <a:lstStyle/>
                    <a:p>
                      <a:r>
                        <a:rPr sz="1575">
                          <a:solidFill>
                            <a:srgbClr val="242B35"/>
                          </a:solidFill>
                          <a:latin typeface="Arial"/>
                          <a:ea typeface="Arial"/>
                          <a:cs typeface="Arial"/>
                        </a:rPr>
                        <a:t>Already used</a:t>
                      </a:r>
                    </a:p>
                  </a:txBody>
                  <a:tcPr marL="85725" marR="76200" marT="38100" marB="38100" anchor="ctr">
                    <a:solidFill>
                      <a:srgbClr val="FFFFFF"/>
                    </a:solidFill>
                  </a:tcPr>
                </a:tc>
              </a:tr>
              <a:tr h="569119">
                <a:tc>
                  <a:txBody>
                    <a:bodyPr/>
                    <a:lstStyle/>
                    <a:p>
                      <a:r>
                        <a:rPr sz="1575">
                          <a:solidFill>
                            <a:srgbClr val="242B35"/>
                          </a:solidFill>
                          <a:latin typeface="Arial"/>
                          <a:ea typeface="Arial"/>
                          <a:cs typeface="Arial"/>
                        </a:rPr>
                        <a:t>Project Python model [7]</a:t>
                      </a:r>
                    </a:p>
                  </a:txBody>
                  <a:tcPr marL="85725" marR="76200" marT="38100" marB="38100" anchor="ctr">
                    <a:solidFill>
                      <a:srgbClr val="F5F6F8"/>
                    </a:solidFill>
                  </a:tcPr>
                </a:tc>
                <a:tc>
                  <a:txBody>
                    <a:bodyPr/>
                    <a:lstStyle/>
                    <a:p>
                      <a:r>
                        <a:rPr sz="1575">
                          <a:solidFill>
                            <a:srgbClr val="242B35"/>
                          </a:solidFill>
                          <a:latin typeface="Arial"/>
                          <a:ea typeface="Arial"/>
                          <a:cs typeface="Arial"/>
                        </a:rPr>
                        <a:t>Network, coolant properties, sweeps, constraints, Streamlit</a:t>
                      </a:r>
                    </a:p>
                  </a:txBody>
                  <a:tcPr marL="85725" marR="76200" marT="38100" marB="38100" anchor="ctr">
                    <a:solidFill>
                      <a:srgbClr val="F5F6F8"/>
                    </a:solidFill>
                  </a:tcPr>
                </a:tc>
                <a:tc>
                  <a:txBody>
                    <a:bodyPr/>
                    <a:lstStyle/>
                    <a:p>
                      <a:r>
                        <a:rPr sz="1575">
                          <a:solidFill>
                            <a:srgbClr val="242B35"/>
                          </a:solidFill>
                          <a:latin typeface="Arial"/>
                          <a:ea typeface="Arial"/>
                          <a:cs typeface="Arial"/>
                        </a:rPr>
                        <a:t>Already implemented</a:t>
                      </a:r>
                    </a:p>
                  </a:txBody>
                  <a:tcPr marL="85725" marR="76200" marT="38100" marB="38100" anchor="ctr">
                    <a:solidFill>
                      <a:srgbClr val="F5F6F8"/>
                    </a:solidFill>
                  </a:tcPr>
                </a:tc>
              </a:tr>
              <a:tr h="569119">
                <a:tc>
                  <a:txBody>
                    <a:bodyPr/>
                    <a:lstStyle/>
                    <a:p>
                      <a:r>
                        <a:rPr sz="1575">
                          <a:solidFill>
                            <a:srgbClr val="242B35"/>
                          </a:solidFill>
                          <a:latin typeface="Arial"/>
                          <a:ea typeface="Arial"/>
                          <a:cs typeface="Arial"/>
                        </a:rPr>
                        <a:t>CoolProp INCOMP database [5]</a:t>
                      </a:r>
                    </a:p>
                  </a:txBody>
                  <a:tcPr marL="85725" marR="76200" marT="38100" marB="38100" anchor="ctr">
                    <a:solidFill>
                      <a:srgbClr val="FFFFFF"/>
                    </a:solidFill>
                  </a:tcPr>
                </a:tc>
                <a:tc>
                  <a:txBody>
                    <a:bodyPr/>
                    <a:lstStyle/>
                    <a:p>
                      <a:r>
                        <a:rPr sz="1575">
                          <a:solidFill>
                            <a:srgbClr val="242B35"/>
                          </a:solidFill>
                          <a:latin typeface="Arial"/>
                          <a:ea typeface="Arial"/>
                          <a:cs typeface="Arial"/>
                        </a:rPr>
                        <a:t>Independent water/glycol property check</a:t>
                      </a:r>
                    </a:p>
                  </a:txBody>
                  <a:tcPr marL="85725" marR="76200" marT="38100" marB="38100" anchor="ctr">
                    <a:solidFill>
                      <a:srgbClr val="FFFFFF"/>
                    </a:solidFill>
                  </a:tcPr>
                </a:tc>
                <a:tc>
                  <a:txBody>
                    <a:bodyPr/>
                    <a:lstStyle/>
                    <a:p>
                      <a:r>
                        <a:rPr sz="1575">
                          <a:solidFill>
                            <a:srgbClr val="242B35"/>
                          </a:solidFill>
                          <a:latin typeface="Arial"/>
                          <a:ea typeface="Arial"/>
                          <a:cs typeface="Arial"/>
                        </a:rPr>
                        <a:t>Proposed cross-check</a:t>
                      </a:r>
                    </a:p>
                  </a:txBody>
                  <a:tcPr marL="85725" marR="76200" marT="38100" marB="3810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19BBB545-74E6-45BD-B44F-8533C407A283}"/>
              </a:ext>
            </a:extLst>
          </p:cNvPr>
          <p:cNvSpPr>
            <a:spLocks xmlns:a="http://schemas.openxmlformats.org/drawingml/2006/main" noGrp="1"/>
          </p:cNvSpPr>
          <p:nvPr/>
        </p:nvSpPr>
        <p:spPr>
          <a:xfrm xmlns:a="http://schemas.openxmlformats.org/drawingml/2006/main">
            <a:off x="419100" y="357187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00144D"/>
                </a:solidFill>
                <a:latin typeface="Arial"/>
                <a:ea typeface="Arial"/>
                <a:cs typeface="Arial"/>
              </a:defRPr>
            </a:pPr>
            <a:r>
              <a:rPr sz="1800" b="1">
                <a:solidFill>
                  <a:srgbClr val="00144D"/>
                </a:solidFill>
                <a:latin typeface="Arial"/>
                <a:ea typeface="Arial"/>
                <a:cs typeface="Arial"/>
              </a:rPr>
              <a:t>Calculation workflow</a:t>
            </a:r>
          </a:p>
        </p:txBody>
      </p:sp>
      <p:sp>
        <p:nvSpPr>
          <p:cNvPr id="10" name="">
            <a:extLst xmlns:a="http://schemas.openxmlformats.org/drawingml/2006/main">
              <a:ext uri="{FF2B5EF4-FFF2-40B4-BE49-F238E27FC236}">
                <a16:creationId xmlns:a16="http://schemas.microsoft.com/office/drawing/2014/main" id="{5DFC27D8-72A9-41DC-AEA6-2AE8FE28C70D}"/>
              </a:ext>
            </a:extLst>
          </p:cNvPr>
          <p:cNvSpPr>
            <a:spLocks xmlns:a="http://schemas.openxmlformats.org/drawingml/2006/main" noGrp="1"/>
          </p:cNvSpPr>
          <p:nvPr/>
        </p:nvSpPr>
        <p:spPr>
          <a:xfrm xmlns:a="http://schemas.openxmlformats.org/drawingml/2006/main">
            <a:off x="419100" y="3886200"/>
            <a:ext cx="8239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242B35"/>
                </a:solidFill>
                <a:latin typeface="Arial"/>
                <a:ea typeface="Arial"/>
                <a:cs typeface="Arial"/>
              </a:defRPr>
            </a:pPr>
            <a:r>
              <a:rPr sz="1500" b="0">
                <a:solidFill>
                  <a:srgbClr val="242B35"/>
                </a:solidFill>
                <a:latin typeface="Arial"/>
                <a:ea typeface="Arial"/>
                <a:cs typeface="Arial"/>
              </a:rPr>
              <a:t>Solve flows and temperatures, update properties, and iterate.</a:t>
            </a:r>
          </a:p>
          <a:p xmlns:a="http://schemas.openxmlformats.org/drawingml/2006/main">
            <a:pPr>
              <a:defRPr sz="1500" b="0">
                <a:solidFill>
                  <a:srgbClr val="242B35"/>
                </a:solidFill>
                <a:latin typeface="Arial"/>
                <a:ea typeface="Arial"/>
                <a:cs typeface="Arial"/>
              </a:defRPr>
            </a:pPr>
            <a:r>
              <a:rPr sz="1500" b="0">
                <a:solidFill>
                  <a:srgbClr val="242B35"/>
                </a:solidFill>
                <a:latin typeface="Arial"/>
                <a:ea typeface="Arial"/>
                <a:cs typeface="Arial"/>
              </a:rPr>
              <a:t>Then check constraints and compare designs.</a:t>
            </a:r>
          </a:p>
        </p:txBody>
      </p:sp>
    </p:spTree>
    <p:extLst>
      <p:ext uri="{BB962C8B-B14F-4D97-AF65-F5344CB8AC3E}">
        <p14:creationId xmlns:p14="http://schemas.microsoft.com/office/powerpoint/2010/main" val="124355426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a5dde0289d041ec"/>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925658C-7B73-4819-B815-57579D7BC1C1}"/>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Checks Needed Before Choosing Hardware</a:t>
            </a:r>
          </a:p>
        </p:txBody>
      </p:sp>
      <p:sp>
        <p:nvSpPr>
          <p:cNvPr id="3" name="">
            <a:extLst xmlns:a="http://schemas.openxmlformats.org/drawingml/2006/main">
              <a:ext uri="{FF2B5EF4-FFF2-40B4-BE49-F238E27FC236}">
                <a16:creationId xmlns:a16="http://schemas.microsoft.com/office/drawing/2014/main" id="{52FC753B-8040-4648-9ED1-38E18507110F}"/>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8C42B1CF-036F-4BCD-A550-BF49135CD826}"/>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47b84e05dff4ef1"/>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C83C616-271E-4DC6-8D7B-1E56BA953118}"/>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14</a:t>
            </a:r>
          </a:p>
        </p:txBody>
      </p:sp>
      <p:sp>
        <p:nvSpPr>
          <p:cNvPr id="7" name="">
            <a:extLst xmlns:a="http://schemas.openxmlformats.org/drawingml/2006/main">
              <a:ext uri="{FF2B5EF4-FFF2-40B4-BE49-F238E27FC236}">
                <a16:creationId xmlns:a16="http://schemas.microsoft.com/office/drawing/2014/main" id="{8D1A4A3E-879E-4CA1-86A3-FCB799094587}"/>
              </a:ext>
            </a:extLst>
          </p:cNvPr>
          <p:cNvSpPr>
            <a:spLocks xmlns:a="http://schemas.openxmlformats.org/drawingml/2006/main" noGrp="1"/>
          </p:cNvSpPr>
          <p:nvPr/>
        </p:nvSpPr>
        <p:spPr>
          <a:xfrm xmlns:a="http://schemas.openxmlformats.org/drawingml/2006/main">
            <a:off x="400050" y="441960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[7]  Sources and calculation details in speaker notes.</a:t>
            </a:r>
          </a:p>
        </p:txBody>
      </p:sp>
      <p:sp>
        <p:nvSpPr>
          <p:cNvPr id="8" name="">
            <a:extLst xmlns:a="http://schemas.openxmlformats.org/drawingml/2006/main">
              <a:ext uri="{FF2B5EF4-FFF2-40B4-BE49-F238E27FC236}">
                <a16:creationId xmlns:a16="http://schemas.microsoft.com/office/drawing/2014/main" id="{F090614A-6D47-4A2A-A1BC-3CBD1EB8CBEC}"/>
              </a:ext>
            </a:extLst>
          </p:cNvPr>
          <p:cNvSpPr>
            <a:spLocks xmlns:a="http://schemas.openxmlformats.org/drawingml/2006/main" noGrp="1"/>
          </p:cNvSpPr>
          <p:nvPr/>
        </p:nvSpPr>
        <p:spPr>
          <a:xfrm xmlns:a="http://schemas.openxmlformats.org/drawingml/2006/main">
            <a:off x="419100" y="1047750"/>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Numerical checks passed</a:t>
            </a:r>
          </a:p>
        </p:txBody>
      </p:sp>
      <p:sp>
        <p:nvSpPr>
          <p:cNvPr id="9" name="">
            <a:extLst xmlns:a="http://schemas.openxmlformats.org/drawingml/2006/main">
              <a:ext uri="{FF2B5EF4-FFF2-40B4-BE49-F238E27FC236}">
                <a16:creationId xmlns:a16="http://schemas.microsoft.com/office/drawing/2014/main" id="{72FD135E-045D-4F0E-BF29-8E8CE8C4772A}"/>
              </a:ext>
            </a:extLst>
          </p:cNvPr>
          <p:cNvSpPr>
            <a:spLocks xmlns:a="http://schemas.openxmlformats.org/drawingml/2006/main" noGrp="1"/>
          </p:cNvSpPr>
          <p:nvPr/>
        </p:nvSpPr>
        <p:spPr>
          <a:xfrm xmlns:a="http://schemas.openxmlformats.org/drawingml/2006/main">
            <a:off x="419100" y="1371600"/>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Both example cases converge and satisfy mass, energy, and pressure closure.</a:t>
            </a:r>
          </a:p>
        </p:txBody>
      </p:sp>
      <p:sp>
        <p:nvSpPr>
          <p:cNvPr id="10" name="">
            <a:extLst xmlns:a="http://schemas.openxmlformats.org/drawingml/2006/main">
              <a:ext uri="{FF2B5EF4-FFF2-40B4-BE49-F238E27FC236}">
                <a16:creationId xmlns:a16="http://schemas.microsoft.com/office/drawing/2014/main" id="{0C164B3D-29DB-4BDA-93C0-D4CDA3C5AE7E}"/>
              </a:ext>
            </a:extLst>
          </p:cNvPr>
          <p:cNvSpPr>
            <a:spLocks xmlns:a="http://schemas.openxmlformats.org/drawingml/2006/main" noGrp="1"/>
          </p:cNvSpPr>
          <p:nvPr/>
        </p:nvSpPr>
        <p:spPr>
          <a:xfrm xmlns:a="http://schemas.openxmlformats.org/drawingml/2006/main">
            <a:off x="419100" y="2066925"/>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Validate the inputs that drive the answer</a:t>
            </a:r>
          </a:p>
        </p:txBody>
      </p:sp>
      <p:sp>
        <p:nvSpPr>
          <p:cNvPr id="11" name="">
            <a:extLst xmlns:a="http://schemas.openxmlformats.org/drawingml/2006/main">
              <a:ext uri="{FF2B5EF4-FFF2-40B4-BE49-F238E27FC236}">
                <a16:creationId xmlns:a16="http://schemas.microsoft.com/office/drawing/2014/main" id="{A1FA1E4A-2E11-46B1-B4FA-93DC2F1D4981}"/>
              </a:ext>
            </a:extLst>
          </p:cNvPr>
          <p:cNvSpPr>
            <a:spLocks xmlns:a="http://schemas.openxmlformats.org/drawingml/2006/main" noGrp="1"/>
          </p:cNvSpPr>
          <p:nvPr/>
        </p:nvSpPr>
        <p:spPr>
          <a:xfrm xmlns:a="http://schemas.openxmlformats.org/drawingml/2006/main">
            <a:off x="419100" y="2390775"/>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Measure tray/QD pressure–flow curves and orifice discharge behavior. Obtain chip limits, thermal resistance, and facility/CDU performance maps.</a:t>
            </a:r>
          </a:p>
        </p:txBody>
      </p:sp>
      <p:sp>
        <p:nvSpPr>
          <p:cNvPr id="12" name="">
            <a:extLst xmlns:a="http://schemas.openxmlformats.org/drawingml/2006/main">
              <a:ext uri="{FF2B5EF4-FFF2-40B4-BE49-F238E27FC236}">
                <a16:creationId xmlns:a16="http://schemas.microsoft.com/office/drawing/2014/main" id="{DEA34760-1DED-41FC-974F-A0E1CB86D8E5}"/>
              </a:ext>
            </a:extLst>
          </p:cNvPr>
          <p:cNvSpPr>
            <a:spLocks xmlns:a="http://schemas.openxmlformats.org/drawingml/2006/main" noGrp="1"/>
          </p:cNvSpPr>
          <p:nvPr/>
        </p:nvSpPr>
        <p:spPr>
          <a:xfrm xmlns:a="http://schemas.openxmlformats.org/drawingml/2006/main">
            <a:off x="419100" y="3333750"/>
            <a:ext cx="823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00144D"/>
                </a:solidFill>
                <a:latin typeface="Arial"/>
                <a:ea typeface="Arial"/>
                <a:cs typeface="Arial"/>
              </a:defRPr>
            </a:pPr>
            <a:r>
              <a:rPr sz="1725" b="1">
                <a:solidFill>
                  <a:srgbClr val="00144D"/>
                </a:solidFill>
                <a:latin typeface="Arial"/>
                <a:ea typeface="Arial"/>
                <a:cs typeface="Arial"/>
              </a:rPr>
              <a:t>Test fixed hardware across operating conditions</a:t>
            </a:r>
          </a:p>
        </p:txBody>
      </p:sp>
      <p:sp>
        <p:nvSpPr>
          <p:cNvPr id="13" name="">
            <a:extLst xmlns:a="http://schemas.openxmlformats.org/drawingml/2006/main">
              <a:ext uri="{FF2B5EF4-FFF2-40B4-BE49-F238E27FC236}">
                <a16:creationId xmlns:a16="http://schemas.microsoft.com/office/drawing/2014/main" id="{59F07E7A-0353-4B20-B208-4122E81001EA}"/>
              </a:ext>
            </a:extLst>
          </p:cNvPr>
          <p:cNvSpPr>
            <a:spLocks xmlns:a="http://schemas.openxmlformats.org/drawingml/2006/main" noGrp="1"/>
          </p:cNvSpPr>
          <p:nvPr/>
        </p:nvSpPr>
        <p:spPr>
          <a:xfrm xmlns:a="http://schemas.openxmlformats.org/drawingml/2006/main">
            <a:off x="419100" y="3657600"/>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242B35"/>
                </a:solidFill>
                <a:latin typeface="Arial"/>
                <a:ea typeface="Arial"/>
                <a:cs typeface="Arial"/>
              </a:defRPr>
            </a:pPr>
            <a:r>
              <a:rPr sz="1575" b="0">
                <a:solidFill>
                  <a:srgbClr val="242B35"/>
                </a:solidFill>
                <a:latin typeface="Arial"/>
                <a:ea typeface="Arial"/>
                <a:cs typeface="Arial"/>
              </a:rPr>
              <a:t>Sweep flow, workload split, coolant, and inlet temperature. Include bore tolerances, partial blockage, and reduced pump capability.</a:t>
            </a:r>
          </a:p>
        </p:txBody>
      </p:sp>
      <p:sp>
        <p:nvSpPr>
          <p:cNvPr id="14" name="">
            <a:extLst xmlns:a="http://schemas.openxmlformats.org/drawingml/2006/main">
              <a:ext uri="{FF2B5EF4-FFF2-40B4-BE49-F238E27FC236}">
                <a16:creationId xmlns:a16="http://schemas.microsoft.com/office/drawing/2014/main" id="{479417D8-9B34-45BD-9BC2-29DDC28A8F58}"/>
              </a:ext>
            </a:extLst>
          </p:cNvPr>
          <p:cNvSpPr>
            <a:spLocks xmlns:a="http://schemas.openxmlformats.org/drawingml/2006/main" noGrp="1"/>
          </p:cNvSpPr>
          <p:nvPr/>
        </p:nvSpPr>
        <p:spPr>
          <a:xfrm xmlns:a="http://schemas.openxmlformats.org/drawingml/2006/main">
            <a:off x="419100" y="4152900"/>
            <a:ext cx="823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95001A"/>
                </a:solidFill>
                <a:latin typeface="Arial"/>
                <a:ea typeface="Arial"/>
                <a:cs typeface="Arial"/>
              </a:defRPr>
            </a:pPr>
            <a:r>
              <a:rPr sz="1275" b="0">
                <a:solidFill>
                  <a:srgbClr val="95001A"/>
                </a:solidFill>
                <a:latin typeface="Arial"/>
                <a:ea typeface="Arial"/>
                <a:cs typeface="Arial"/>
              </a:rPr>
              <a:t>The 1D model omits 3D tee momentum recovery. Verify header-shape benefits with CFD.</a:t>
            </a:r>
          </a:p>
        </p:txBody>
      </p:sp>
    </p:spTree>
    <p:extLst>
      <p:ext uri="{BB962C8B-B14F-4D97-AF65-F5344CB8AC3E}">
        <p14:creationId xmlns:p14="http://schemas.microsoft.com/office/powerpoint/2010/main" val="31742790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32fee04c4184c20"/>
          <a:stretch xmlns:a="http://schemas.openxmlformats.org/drawingml/2006/main"/>
        </p:blipFill>
        <p:spPr>
          <a:xfrm xmlns:a="http://schemas.openxmlformats.org/drawingml/2006/main">
            <a:off x="201827" y="104775"/>
            <a:ext cx="3330147" cy="37433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B77BE7C-2B0F-416D-98B9-6F45046E4918}"/>
              </a:ext>
            </a:extLst>
          </p:cNvPr>
          <p:cNvSpPr>
            <a:spLocks xmlns:a="http://schemas.openxmlformats.org/drawingml/2006/main" noGrp="1"/>
          </p:cNvSpPr>
          <p:nvPr/>
        </p:nvSpPr>
        <p:spPr>
          <a:xfrm xmlns:a="http://schemas.openxmlformats.org/drawingml/2006/main">
            <a:off x="381000" y="161925"/>
            <a:ext cx="8429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640" b="0">
                <a:solidFill>
                  <a:srgbClr val="95001A"/>
                </a:solidFill>
                <a:latin typeface="GillSans"/>
                <a:ea typeface="GillSans"/>
                <a:cs typeface="GillSans"/>
              </a:defRPr>
            </a:pPr>
            <a:r>
              <a:rPr sz="2640" b="0">
                <a:solidFill>
                  <a:srgbClr val="95001A"/>
                </a:solidFill>
                <a:latin typeface="GillSans"/>
                <a:ea typeface="GillSans"/>
                <a:cs typeface="GillSans"/>
              </a:rPr>
              <a:t>References and Calculation Record</a:t>
            </a:r>
          </a:p>
        </p:txBody>
      </p:sp>
      <p:sp>
        <p:nvSpPr>
          <p:cNvPr id="3" name="">
            <a:extLst xmlns:a="http://schemas.openxmlformats.org/drawingml/2006/main">
              <a:ext uri="{FF2B5EF4-FFF2-40B4-BE49-F238E27FC236}">
                <a16:creationId xmlns:a16="http://schemas.microsoft.com/office/drawing/2014/main" id="{DCE18246-BF71-4917-855D-B5BC28DD30AE}"/>
              </a:ext>
            </a:extLst>
          </p:cNvPr>
          <p:cNvSpPr>
            <a:spLocks xmlns:a="http://schemas.openxmlformats.org/drawingml/2006/main" noGrp="1"/>
          </p:cNvSpPr>
          <p:nvPr/>
        </p:nvSpPr>
        <p:spPr>
          <a:xfrm xmlns:a="http://schemas.openxmlformats.org/drawingml/2006/main">
            <a:off x="0" y="723900"/>
            <a:ext cx="8953500" cy="28575"/>
          </a:xfrm>
          <a:prstGeom xmlns:a="http://schemas.openxmlformats.org/drawingml/2006/main" prst="rect">
            <a:avLst/>
          </a:prstGeom>
          <a:solidFill xmlns:a="http://schemas.openxmlformats.org/drawingml/2006/main">
            <a:srgbClr val="82AED3"/>
          </a:solidFill>
          <a:ln xmlns:a="http://schemas.openxmlformats.org/drawingml/2006/main" w="0">
            <a:solidFill>
              <a:srgbClr val="82AED3"/>
            </a:solidFill>
          </a:ln>
        </p:spPr>
      </p:sp>
      <p:sp>
        <p:nvSpPr>
          <p:cNvPr id="4" name="">
            <a:extLst xmlns:a="http://schemas.openxmlformats.org/drawingml/2006/main">
              <a:ext uri="{FF2B5EF4-FFF2-40B4-BE49-F238E27FC236}">
                <a16:creationId xmlns:a16="http://schemas.microsoft.com/office/drawing/2014/main" id="{42AA2462-C20F-493E-BA65-61F23C3BC342}"/>
              </a:ext>
            </a:extLst>
          </p:cNvPr>
          <p:cNvSpPr>
            <a:spLocks xmlns:a="http://schemas.openxmlformats.org/drawingml/2006/main" noGrp="1"/>
          </p:cNvSpPr>
          <p:nvPr/>
        </p:nvSpPr>
        <p:spPr>
          <a:xfrm xmlns:a="http://schemas.openxmlformats.org/drawingml/2006/main">
            <a:off x="0" y="723900"/>
            <a:ext cx="3762375" cy="28575"/>
          </a:xfrm>
          <a:prstGeom xmlns:a="http://schemas.openxmlformats.org/drawingml/2006/main" prst="rect">
            <a:avLst/>
          </a:prstGeom>
          <a:solidFill xmlns:a="http://schemas.openxmlformats.org/drawingml/2006/main">
            <a:srgbClr val="95001A"/>
          </a:solidFill>
          <a:ln xmlns:a="http://schemas.openxmlformats.org/drawingml/2006/main" w="0">
            <a:solidFill>
              <a:srgbClr val="95001A"/>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09eedc84dd04f79"/>
          <a:stretch xmlns:a="http://schemas.openxmlformats.org/drawingml/2006/main"/>
        </p:blipFill>
        <p:spPr>
          <a:xfrm xmlns:a="http://schemas.openxmlformats.org/drawingml/2006/main">
            <a:off x="457200" y="4695920"/>
            <a:ext cx="1809750" cy="3474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CC0391A-6C04-44EC-BF4D-7FAF822B944E}"/>
              </a:ext>
            </a:extLst>
          </p:cNvPr>
          <p:cNvSpPr>
            <a:spLocks xmlns:a="http://schemas.openxmlformats.org/drawingml/2006/main" noGrp="1"/>
          </p:cNvSpPr>
          <p:nvPr/>
        </p:nvSpPr>
        <p:spPr>
          <a:xfrm xmlns:a="http://schemas.openxmlformats.org/drawingml/2006/main">
            <a:off x="8477250" y="476250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00" b="0">
                <a:solidFill>
                  <a:srgbClr val="555555"/>
                </a:solidFill>
                <a:latin typeface="Arial"/>
                <a:ea typeface="Arial"/>
                <a:cs typeface="Arial"/>
              </a:defRPr>
            </a:pPr>
            <a:r>
              <a:rPr sz="900" b="0">
                <a:solidFill>
                  <a:srgbClr val="555555"/>
                </a:solidFill>
                <a:latin typeface="Arial"/>
                <a:ea typeface="Arial"/>
                <a:cs typeface="Arial"/>
              </a:rPr>
              <a:t>15</a:t>
            </a:r>
          </a:p>
        </p:txBody>
      </p:sp>
      <p:sp>
        <p:nvSpPr>
          <p:cNvPr id="7" name="">
            <a:extLst xmlns:a="http://schemas.openxmlformats.org/drawingml/2006/main">
              <a:ext uri="{FF2B5EF4-FFF2-40B4-BE49-F238E27FC236}">
                <a16:creationId xmlns:a16="http://schemas.microsoft.com/office/drawing/2014/main" id="{8A2A5149-CEA8-466F-B1EB-64744FA22316}"/>
              </a:ext>
            </a:extLst>
          </p:cNvPr>
          <p:cNvSpPr>
            <a:spLocks xmlns:a="http://schemas.openxmlformats.org/drawingml/2006/main" noGrp="1"/>
          </p:cNvSpPr>
          <p:nvPr/>
        </p:nvSpPr>
        <p:spPr>
          <a:xfrm xmlns:a="http://schemas.openxmlformats.org/drawingml/2006/main">
            <a:off x="428625" y="1028700"/>
            <a:ext cx="828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[1] Sogunuru et al. (2020). Patterned flow distribution through manifolds in electronics cooling. IJMPERD 10(2), 975–986. Selected calculation baseline.</a:t>
            </a:r>
          </a:p>
        </p:txBody>
      </p:sp>
      <p:sp>
        <p:nvSpPr>
          <p:cNvPr id="8" name="">
            <a:extLst xmlns:a="http://schemas.openxmlformats.org/drawingml/2006/main">
              <a:ext uri="{FF2B5EF4-FFF2-40B4-BE49-F238E27FC236}">
                <a16:creationId xmlns:a16="http://schemas.microsoft.com/office/drawing/2014/main" id="{0C94CEC1-BB4A-46A8-9FEC-E489A6C10396}"/>
              </a:ext>
            </a:extLst>
          </p:cNvPr>
          <p:cNvSpPr>
            <a:spLocks xmlns:a="http://schemas.openxmlformats.org/drawingml/2006/main" noGrp="1"/>
          </p:cNvSpPr>
          <p:nvPr/>
        </p:nvSpPr>
        <p:spPr>
          <a:xfrm xmlns:a="http://schemas.openxmlformats.org/drawingml/2006/main">
            <a:off x="428625" y="1552575"/>
            <a:ext cx="828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[2] Hassan et al. (2014). Modeling the Uniformity of Manifold with Various Configurations. Journal of Fluids. doi:10.1155/2014/325259.</a:t>
            </a:r>
          </a:p>
        </p:txBody>
      </p:sp>
      <p:sp>
        <p:nvSpPr>
          <p:cNvPr id="9" name="">
            <a:extLst xmlns:a="http://schemas.openxmlformats.org/drawingml/2006/main">
              <a:ext uri="{FF2B5EF4-FFF2-40B4-BE49-F238E27FC236}">
                <a16:creationId xmlns:a16="http://schemas.microsoft.com/office/drawing/2014/main" id="{70D645F4-8A99-4254-84C8-A02ABDC27D8B}"/>
              </a:ext>
            </a:extLst>
          </p:cNvPr>
          <p:cNvSpPr>
            <a:spLocks xmlns:a="http://schemas.openxmlformats.org/drawingml/2006/main" noGrp="1"/>
          </p:cNvSpPr>
          <p:nvPr/>
        </p:nvSpPr>
        <p:spPr>
          <a:xfrm xmlns:a="http://schemas.openxmlformats.org/drawingml/2006/main">
            <a:off x="428625" y="2076450"/>
            <a:ext cx="828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[3] Anbumeenakshi &amp; Thansekhar (2016). Header shape and inlet configuration in microchannels. Experimental Thermal and Fluid Science 75, 156–161. doi:10.1016/j.expthermflusci.2016.02.004.</a:t>
            </a:r>
          </a:p>
        </p:txBody>
      </p:sp>
      <p:sp>
        <p:nvSpPr>
          <p:cNvPr id="10" name="">
            <a:extLst xmlns:a="http://schemas.openxmlformats.org/drawingml/2006/main">
              <a:ext uri="{FF2B5EF4-FFF2-40B4-BE49-F238E27FC236}">
                <a16:creationId xmlns:a16="http://schemas.microsoft.com/office/drawing/2014/main" id="{2ACAE0B4-57CF-42DC-9111-508CD8C8BEC0}"/>
              </a:ext>
            </a:extLst>
          </p:cNvPr>
          <p:cNvSpPr>
            <a:spLocks xmlns:a="http://schemas.openxmlformats.org/drawingml/2006/main" noGrp="1"/>
          </p:cNvSpPr>
          <p:nvPr/>
        </p:nvSpPr>
        <p:spPr>
          <a:xfrm xmlns:a="http://schemas.openxmlformats.org/drawingml/2006/main">
            <a:off x="428625" y="2790825"/>
            <a:ext cx="8286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[4] NVIDIA DGX GB Rack Scale Systems User Guide: Hardware.</a:t>
            </a:r>
          </a:p>
        </p:txBody>
      </p:sp>
      <p:sp>
        <p:nvSpPr>
          <p:cNvPr id="11" name="">
            <a:extLst xmlns:a="http://schemas.openxmlformats.org/drawingml/2006/main">
              <a:ext uri="{FF2B5EF4-FFF2-40B4-BE49-F238E27FC236}">
                <a16:creationId xmlns:a16="http://schemas.microsoft.com/office/drawing/2014/main" id="{04629BBE-C1AA-4447-9042-B70E2DA7EF49}"/>
              </a:ext>
            </a:extLst>
          </p:cNvPr>
          <p:cNvSpPr>
            <a:spLocks xmlns:a="http://schemas.openxmlformats.org/drawingml/2006/main" noGrp="1"/>
          </p:cNvSpPr>
          <p:nvPr/>
        </p:nvSpPr>
        <p:spPr>
          <a:xfrm xmlns:a="http://schemas.openxmlformats.org/drawingml/2006/main">
            <a:off x="428625" y="3114675"/>
            <a:ext cx="8286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[5] CoolProp: Incompressible Fluids database and documentation.</a:t>
            </a:r>
          </a:p>
        </p:txBody>
      </p:sp>
      <p:sp>
        <p:nvSpPr>
          <p:cNvPr id="12" name="">
            <a:extLst xmlns:a="http://schemas.openxmlformats.org/drawingml/2006/main">
              <a:ext uri="{FF2B5EF4-FFF2-40B4-BE49-F238E27FC236}">
                <a16:creationId xmlns:a16="http://schemas.microsoft.com/office/drawing/2014/main" id="{2271F9C6-D43E-42E3-901E-E93D43700D84}"/>
              </a:ext>
            </a:extLst>
          </p:cNvPr>
          <p:cNvSpPr>
            <a:spLocks xmlns:a="http://schemas.openxmlformats.org/drawingml/2006/main" noGrp="1"/>
          </p:cNvSpPr>
          <p:nvPr/>
        </p:nvSpPr>
        <p:spPr>
          <a:xfrm xmlns:a="http://schemas.openxmlformats.org/drawingml/2006/main">
            <a:off x="428625" y="3438525"/>
            <a:ext cx="8286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[6] SciPy: scipy.optimize.least_squares documentation.</a:t>
            </a:r>
          </a:p>
        </p:txBody>
      </p:sp>
      <p:sp>
        <p:nvSpPr>
          <p:cNvPr id="13" name="">
            <a:extLst xmlns:a="http://schemas.openxmlformats.org/drawingml/2006/main">
              <a:ext uri="{FF2B5EF4-FFF2-40B4-BE49-F238E27FC236}">
                <a16:creationId xmlns:a16="http://schemas.microsoft.com/office/drawing/2014/main" id="{3D48CA6D-685F-46E0-8E02-47F6CF6B0C4F}"/>
              </a:ext>
            </a:extLst>
          </p:cNvPr>
          <p:cNvSpPr>
            <a:spLocks xmlns:a="http://schemas.openxmlformats.org/drawingml/2006/main" noGrp="1"/>
          </p:cNvSpPr>
          <p:nvPr/>
        </p:nvSpPr>
        <p:spPr>
          <a:xfrm xmlns:a="http://schemas.openxmlformats.org/drawingml/2006/main">
            <a:off x="428625" y="3762375"/>
            <a:ext cx="828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242B35"/>
                </a:solidFill>
                <a:latin typeface="Arial"/>
                <a:ea typeface="Arial"/>
                <a:cs typeface="Arial"/>
              </a:defRPr>
            </a:pPr>
            <a:r>
              <a:rPr sz="1350" b="0">
                <a:solidFill>
                  <a:srgbClr val="242B35"/>
                </a:solidFill>
                <a:latin typeface="Arial"/>
                <a:ea typeface="Arial"/>
                <a:cs typeface="Arial"/>
              </a:rPr>
              <a:t>[7] NVL72-Manifold-Optimization repository. Matched reference and balanced runs recalculated on 15 September 2026. Full source links and details are in slide notes.</a:t>
            </a:r>
          </a:p>
        </p:txBody>
      </p:sp>
    </p:spTree>
    <p:extLst>
      <p:ext uri="{BB962C8B-B14F-4D97-AF65-F5344CB8AC3E}">
        <p14:creationId xmlns:p14="http://schemas.microsoft.com/office/powerpoint/2010/main" val="2691101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2026-09-15T18:15:58.6920000Z</dcterms:created>
  <dcterms:modified xsi:type="dcterms:W3CDTF">2026-09-15T18:15:58.6920000Z</dcterms:modified>
</coreProperties>
</file>